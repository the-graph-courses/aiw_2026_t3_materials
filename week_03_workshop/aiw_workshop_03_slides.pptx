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71" r:id="rId21"/>
    <p:sldId id="272" r:id="rId22"/>
    <p:sldId id="284" r:id="rId39"/>
    <p:sldId id="285" r:id="rId40"/>
    <p:sldId id="286" r:id="rId41"/>
    <p:sldId id="287" r:id="rId42"/>
    <p:sldId id="288" r:id="rId43"/>
    <p:sldId id="265" r:id="rId15"/>
    <p:sldId id="266" r:id="rId16"/>
    <p:sldId id="267" r:id="rId17"/>
    <p:sldId id="270" r:id="rId20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68" r:id="rId18"/>
    <p:sldId id="269" r:id="rId19"/>
    <p:sldId id="280" r:id="rId30"/>
    <p:sldId id="281" r:id="rId31"/>
    <p:sldId id="282" r:id="rId32"/>
    <p:sldId id="283" r:id="rId33"/>
  </p:sldIdLst>
  <p:sldSz cy="5143500" cx="9144000"/>
  <p:notesSz cx="6858000" cy="9144000"/>
  <p:embeddedFontLst>
    <p:embeddedFont>
      <p:font typeface="Nunito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8" roundtripDataSignature="AMtx7mhaQnL0o+uMDr0r39AkH4RJvc1T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
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NunitoSans-bold.fntdata"/><Relationship Id="rId12" Type="http://schemas.openxmlformats.org/officeDocument/2006/relationships/slide" Target="slides/slide7.xml"/><Relationship Id="rId34" Type="http://schemas.openxmlformats.org/officeDocument/2006/relationships/font" Target="fonts/NunitoSans-regular.fntdata"/><Relationship Id="rId15" Type="http://schemas.openxmlformats.org/officeDocument/2006/relationships/slide" Target="slides/slide10.xml"/><Relationship Id="rId37" Type="http://schemas.openxmlformats.org/officeDocument/2006/relationships/font" Target="fonts/NunitoSans-boldItalic.fntdata"/><Relationship Id="rId14" Type="http://schemas.openxmlformats.org/officeDocument/2006/relationships/slide" Target="slides/slide9.xml"/><Relationship Id="rId36" Type="http://schemas.openxmlformats.org/officeDocument/2006/relationships/font" Target="fonts/NunitoSans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customschemas.google.com/relationships/presentationmetadata" Target="metadata"/><Relationship Id="rId19" Type="http://schemas.openxmlformats.org/officeDocument/2006/relationships/slide" Target="slides/slide14.xml"/><Relationship Id="rId18" Type="http://schemas.openxmlformats.org/officeDocument/2006/relationships/slide" Target="slides/slide13.xml"/>  <Relationship Id="rId39" Type="http://schemas.openxmlformats.org/officeDocument/2006/relationships/slide" Target="slides/slide29.xml"/>
  <Relationship Id="rId40" Type="http://schemas.openxmlformats.org/officeDocument/2006/relationships/slide" Target="slides/slide30.xml"/>
  <Relationship Id="rId41" Type="http://schemas.openxmlformats.org/officeDocument/2006/relationships/slide" Target="slides/slide31.xml"/>
  <Relationship Id="rId42" Type="http://schemas.openxmlformats.org/officeDocument/2006/relationships/slide" Target="slides/slide32.xml"/>
  <Relationship Id="rId43" Type="http://schemas.openxmlformats.org/officeDocument/2006/relationships/slide" Target="slides/slide33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fd23b1720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3bfd23b172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/>
              <a:t>Camille</a:t>
            </a:r>
            <a:endParaRPr b="1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fd23b1720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g3bfd23b172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/>
              <a:t>Camille</a:t>
            </a:r>
            <a:endParaRPr b="1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/>
              <a:t>Camille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-US"/>
              <a:t>Welcome and intro: Say hello, we’re excited to have everyone. Introduce TGC people (Kene, Joy, Zachary, Sara, Olivia, etc.), words from Olivia, mission/goals – </a:t>
            </a:r>
            <a:r>
              <a:rPr b="1" lang="en-US"/>
              <a:t>Joy/Kene/Olivia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-US"/>
              <a:t>Cosmos practice: Update last year’s slides - </a:t>
            </a:r>
            <a:r>
              <a:rPr b="1" lang="en-US"/>
              <a:t>Joy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-US"/>
              <a:t>Icebreakers: Games/activities: TBD – </a:t>
            </a:r>
            <a:r>
              <a:rPr b="1" lang="en-US"/>
              <a:t>Joy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b="0" lang="en-US"/>
              <a:t>Course overview: syllabus (basically walk thru learning journey figure from brochure) – </a:t>
            </a:r>
            <a:r>
              <a:rPr b="1" lang="en-US"/>
              <a:t>Kene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b="0" lang="en-US"/>
              <a:t>Course navigation: screen share TGC website, walk through navigating to the course pages, explain new content will be uploaded each week – </a:t>
            </a:r>
            <a:r>
              <a:rPr b="1" lang="en-US"/>
              <a:t>Joy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b="0" lang="en-US"/>
              <a:t>Expectations and policies: assessments/grading, attendance policy, code of conduct – </a:t>
            </a:r>
            <a:r>
              <a:rPr b="1" lang="en-US"/>
              <a:t>Kene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b="0" lang="en-US"/>
              <a:t>Intro to Discord – </a:t>
            </a:r>
            <a:r>
              <a:rPr b="1" lang="en-US"/>
              <a:t>Kene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b="0" lang="en-US"/>
              <a:t>Final announcements: next workshop material, calendar invites, general reminders, etc.</a:t>
            </a:r>
            <a:endParaRPr/>
          </a:p>
          <a:p>
            <a:pPr indent="-1587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t/>
            </a:r>
            <a:endParaRPr b="0"/>
          </a:p>
          <a:p>
            <a:pPr indent="-1587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t/>
            </a:r>
            <a:endParaRPr b="0"/>
          </a:p>
          <a:p>
            <a:pPr indent="-1587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t/>
            </a:r>
            <a:endParaRPr b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/>
              <a:t>Sabina</a:t>
            </a:r>
            <a:endParaRPr b="1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54c283ccb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854c283cc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/>
              <a:t>Sabina</a:t>
            </a:r>
            <a:endParaRPr b="1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215968463_2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5215968463_2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solidFill>
                <a:srgbClr val="17161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8" name="Google Shape;108;g35215968463_2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58933c432d_2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258933c432d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/>
              <a:t>Sabina</a:t>
            </a:r>
            <a:endParaRPr b="1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5954a240fe_1_2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5954a240fe_1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Kene</a:t>
            </a:r>
            <a:endParaRPr/>
          </a:p>
        </p:txBody>
      </p:sp>
      <p:sp>
        <p:nvSpPr>
          <p:cNvPr id="126" name="Google Shape;126;g35954a240fe_1_25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54c283ccb_0_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854c283ccb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Kene</a:t>
            </a:r>
            <a:endParaRPr/>
          </a:p>
        </p:txBody>
      </p:sp>
      <p:sp>
        <p:nvSpPr>
          <p:cNvPr id="140" name="Google Shape;140;g3854c283ccb_0_7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5caa9fba86_0_1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5caa9fba86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Kene</a:t>
            </a:r>
            <a:endParaRPr/>
          </a:p>
        </p:txBody>
      </p:sp>
      <p:sp>
        <p:nvSpPr>
          <p:cNvPr id="149" name="Google Shape;149;g35caa9fba86_0_10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ca0348706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2ca0348706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Camille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ca0348706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2ca0348706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Camille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d39d9a122_0_1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9d39d9a122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/>
              <a:t>Sabina</a:t>
            </a:r>
            <a:endParaRPr b="1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9ee578634_0_1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e9ee578634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/>
              <a:t>Sabina</a:t>
            </a:r>
            <a:endParaRPr b="1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caa9fba86_0_2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35caa9fba86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/>
              <a:t>Sabina</a:t>
            </a:r>
            <a:endParaRPr b="1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d39d9a122_0_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39d39d9a122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/>
              <a:t>Sabina</a:t>
            </a:r>
            <a:endParaRPr b="1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5caa9fba86_0_1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5caa9fba86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Kene</a:t>
            </a:r>
            <a:endParaRPr/>
          </a:p>
        </p:txBody>
      </p:sp>
      <p:sp>
        <p:nvSpPr>
          <p:cNvPr id="212" name="Google Shape;212;g35caa9fba86_0_1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5caa9fba86_0_1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5caa9fba86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/>
              <a:t>Sabina</a:t>
            </a:r>
            <a:endParaRPr b="1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9d39d9a122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39d39d9a12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/>
              <a:t>Sabina</a:t>
            </a:r>
            <a:endParaRPr b="1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e9ee578634_0_1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3e9ee578634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/>
              <a:t>Sabina</a:t>
            </a:r>
            <a:endParaRPr b="1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9d39d9a122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9d39d9a12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Kene</a:t>
            </a:r>
            <a:endParaRPr/>
          </a:p>
        </p:txBody>
      </p:sp>
      <p:sp>
        <p:nvSpPr>
          <p:cNvPr id="249" name="Google Shape;249;g39d39d9a122_0_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9d39d9a122_0_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g39d39d9a12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Kene</a:t>
            </a:r>
            <a:endParaRPr/>
          </a:p>
        </p:txBody>
      </p:sp>
      <p:sp>
        <p:nvSpPr>
          <p:cNvPr id="259" name="Google Shape;259;g39d39d9a122_0_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9d39d9a122_0_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39d39d9a12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Kene</a:t>
            </a:r>
            <a:endParaRPr/>
          </a:p>
        </p:txBody>
      </p:sp>
      <p:sp>
        <p:nvSpPr>
          <p:cNvPr id="267" name="Google Shape;267;g39d39d9a122_0_4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9d39d9a122_0_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g39d39d9a122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Kene</a:t>
            </a:r>
            <a:endParaRPr/>
          </a:p>
        </p:txBody>
      </p:sp>
      <p:sp>
        <p:nvSpPr>
          <p:cNvPr id="275" name="Google Shape;275;g39d39d9a122_0_4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5caa9fba86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g35caa9fba86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Camille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854db5e084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g3854db5e0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/>
              <a:t>Sabina</a:t>
            </a:r>
            <a:endParaRPr b="1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5caa9fba86_0_2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g35caa9fba86_0_2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>
                <a:solidFill>
                  <a:srgbClr val="17161C"/>
                </a:solidFill>
                <a:latin typeface="Avenir"/>
                <a:ea typeface="Avenir"/>
                <a:cs typeface="Avenir"/>
                <a:sym typeface="Avenir"/>
              </a:rPr>
              <a:t>Camille</a:t>
            </a:r>
            <a:endParaRPr>
              <a:solidFill>
                <a:srgbClr val="17161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01" name="Google Shape;301;g35caa9fba86_0_2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5caa9fba86_0_2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g35caa9fba86_0_2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>
                <a:solidFill>
                  <a:srgbClr val="17161C"/>
                </a:solidFill>
                <a:latin typeface="Avenir"/>
                <a:ea typeface="Avenir"/>
                <a:cs typeface="Avenir"/>
                <a:sym typeface="Avenir"/>
              </a:rPr>
              <a:t>Camille</a:t>
            </a:r>
            <a:endParaRPr>
              <a:solidFill>
                <a:srgbClr val="17161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11" name="Google Shape;311;g35caa9fba86_0_2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9"/>
          <p:cNvSpPr txBox="1"/>
          <p:nvPr>
            <p:ph type="ctrTitle"/>
          </p:nvPr>
        </p:nvSpPr>
        <p:spPr>
          <a:xfrm>
            <a:off x="1143000" y="1316728"/>
            <a:ext cx="6858000" cy="1315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2934"/>
              </a:buClr>
              <a:buSzPts val="4500"/>
              <a:buFont typeface="Calibri"/>
              <a:buNone/>
              <a:defRPr sz="4500">
                <a:solidFill>
                  <a:srgbClr val="20293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49"/>
          <p:cNvSpPr txBox="1"/>
          <p:nvPr>
            <p:ph idx="1" type="subTitle"/>
          </p:nvPr>
        </p:nvSpPr>
        <p:spPr>
          <a:xfrm>
            <a:off x="1143000" y="2701529"/>
            <a:ext cx="68580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934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02934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202934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02934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02934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02934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02934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02934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02934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49"/>
          <p:cNvSpPr txBox="1"/>
          <p:nvPr/>
        </p:nvSpPr>
        <p:spPr>
          <a:xfrm>
            <a:off x="3253740" y="-15240"/>
            <a:ext cx="1386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8"/>
          <p:cNvSpPr txBox="1"/>
          <p:nvPr>
            <p:ph idx="1" type="body"/>
          </p:nvPr>
        </p:nvSpPr>
        <p:spPr>
          <a:xfrm>
            <a:off x="237839" y="593822"/>
            <a:ext cx="8635800" cy="13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934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02934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02934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02934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02934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48"/>
          <p:cNvSpPr txBox="1"/>
          <p:nvPr>
            <p:ph type="title"/>
          </p:nvPr>
        </p:nvSpPr>
        <p:spPr>
          <a:xfrm>
            <a:off x="237839" y="110751"/>
            <a:ext cx="43341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2934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graphics">
  <p:cSld name="No graphic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6"/>
          <p:cNvSpPr txBox="1"/>
          <p:nvPr>
            <p:ph type="title"/>
          </p:nvPr>
        </p:nvSpPr>
        <p:spPr>
          <a:xfrm>
            <a:off x="237839" y="89977"/>
            <a:ext cx="49437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2934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>
  <p:cSld name="2_Title and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2"/>
          <p:cNvSpPr txBox="1"/>
          <p:nvPr>
            <p:ph idx="1" type="body"/>
          </p:nvPr>
        </p:nvSpPr>
        <p:spPr>
          <a:xfrm>
            <a:off x="237838" y="845282"/>
            <a:ext cx="8635745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52"/>
          <p:cNvSpPr txBox="1"/>
          <p:nvPr>
            <p:ph type="title"/>
          </p:nvPr>
        </p:nvSpPr>
        <p:spPr>
          <a:xfrm>
            <a:off x="237838" y="78435"/>
            <a:ext cx="4334162" cy="424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3"/>
          <p:cNvSpPr txBox="1"/>
          <p:nvPr>
            <p:ph type="title"/>
          </p:nvPr>
        </p:nvSpPr>
        <p:spPr>
          <a:xfrm>
            <a:off x="237839" y="89977"/>
            <a:ext cx="49437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2934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1_Title and Conte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258933c432d_1_90"/>
          <p:cNvSpPr txBox="1"/>
          <p:nvPr>
            <p:ph idx="1" type="body"/>
          </p:nvPr>
        </p:nvSpPr>
        <p:spPr>
          <a:xfrm>
            <a:off x="237839" y="593822"/>
            <a:ext cx="86358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spAutoFit/>
          </a:bodyPr>
          <a:lstStyle>
            <a:lvl1pPr indent="-3302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934"/>
              </a:buClr>
              <a:buSzPts val="1600"/>
              <a:buFont typeface="Arial"/>
              <a:buChar char="•"/>
              <a:defRPr b="0" i="0" sz="2100" u="none" cap="none" strike="noStrike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02934"/>
              </a:buClr>
              <a:buSzPts val="1400"/>
              <a:buFont typeface="Arial"/>
              <a:buChar char="•"/>
              <a:defRPr b="0" i="0" sz="1800" u="none" cap="none" strike="noStrike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02934"/>
              </a:buClr>
              <a:buSzPts val="1100"/>
              <a:buFont typeface="Arial"/>
              <a:buChar char="•"/>
              <a:defRPr b="0" i="0" sz="1500" u="none" cap="none" strike="noStrike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02934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02934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g258933c432d_1_90"/>
          <p:cNvSpPr txBox="1"/>
          <p:nvPr>
            <p:ph type="title"/>
          </p:nvPr>
        </p:nvSpPr>
        <p:spPr>
          <a:xfrm>
            <a:off x="237839" y="98594"/>
            <a:ext cx="43341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2934"/>
              </a:buClr>
              <a:buSzPts val="11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No graphics">
  <p:cSld name="1_No graphic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0"/>
          <p:cNvSpPr txBox="1"/>
          <p:nvPr>
            <p:ph type="title"/>
          </p:nvPr>
        </p:nvSpPr>
        <p:spPr>
          <a:xfrm>
            <a:off x="237839" y="89977"/>
            <a:ext cx="49437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ntent">
  <p:cSld name="2_Conte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08959b4f3b_0_574"/>
          <p:cNvSpPr txBox="1"/>
          <p:nvPr>
            <p:ph type="title"/>
          </p:nvPr>
        </p:nvSpPr>
        <p:spPr>
          <a:xfrm>
            <a:off x="238125" y="110728"/>
            <a:ext cx="40566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and Content">
  <p:cSld name="3_Title and Conte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4"/>
          <p:cNvSpPr txBox="1"/>
          <p:nvPr>
            <p:ph idx="1" type="body"/>
          </p:nvPr>
        </p:nvSpPr>
        <p:spPr>
          <a:xfrm>
            <a:off x="237838" y="593822"/>
            <a:ext cx="8635745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54"/>
          <p:cNvSpPr txBox="1"/>
          <p:nvPr>
            <p:ph type="title"/>
          </p:nvPr>
        </p:nvSpPr>
        <p:spPr>
          <a:xfrm>
            <a:off x="237838" y="78435"/>
            <a:ext cx="4334162" cy="424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1"/>
          <p:cNvSpPr txBox="1"/>
          <p:nvPr>
            <p:ph type="title"/>
          </p:nvPr>
        </p:nvSpPr>
        <p:spPr>
          <a:xfrm>
            <a:off x="237839" y="89977"/>
            <a:ext cx="49437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" name="Google Shape;45;p51"/>
          <p:cNvSpPr txBox="1"/>
          <p:nvPr>
            <p:ph idx="1" type="body"/>
          </p:nvPr>
        </p:nvSpPr>
        <p:spPr>
          <a:xfrm>
            <a:off x="619885" y="2033982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51"/>
          <p:cNvSpPr txBox="1"/>
          <p:nvPr>
            <p:ph idx="11" type="ftr"/>
          </p:nvPr>
        </p:nvSpPr>
        <p:spPr>
          <a:xfrm>
            <a:off x="3028950" y="4548480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51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5caa9fba86_0_10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g35caa9fba86_0_10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5caa9fba86_0_10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35caa9fba86_0_10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caa9fba86_0_10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g35caa9fba86_0_10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5caa9fba86_0_20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g35caa9fba86_0_20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2F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7"/>
          <p:cNvSpPr txBox="1"/>
          <p:nvPr>
            <p:ph type="title"/>
          </p:nvPr>
        </p:nvSpPr>
        <p:spPr>
          <a:xfrm>
            <a:off x="237839" y="89977"/>
            <a:ext cx="49437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2934"/>
              </a:buClr>
              <a:buSzPts val="2400"/>
              <a:buFont typeface="Calibri"/>
              <a:buNone/>
              <a:defRPr b="1" i="0" sz="2400" u="none" cap="none" strike="noStrike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7" name="Google Shape;7;p47"/>
          <p:cNvCxnSpPr/>
          <p:nvPr/>
        </p:nvCxnSpPr>
        <p:spPr>
          <a:xfrm>
            <a:off x="-3581" y="5122201"/>
            <a:ext cx="1530000" cy="0"/>
          </a:xfrm>
          <a:prstGeom prst="straightConnector1">
            <a:avLst/>
          </a:prstGeom>
          <a:noFill/>
          <a:ln cap="flat" cmpd="sng" w="76200">
            <a:solidFill>
              <a:srgbClr val="20293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" name="Google Shape;8;p47"/>
          <p:cNvCxnSpPr/>
          <p:nvPr/>
        </p:nvCxnSpPr>
        <p:spPr>
          <a:xfrm>
            <a:off x="1519226" y="5122201"/>
            <a:ext cx="1530000" cy="0"/>
          </a:xfrm>
          <a:prstGeom prst="straightConnector1">
            <a:avLst/>
          </a:prstGeom>
          <a:noFill/>
          <a:ln cap="flat" cmpd="sng" w="76200">
            <a:solidFill>
              <a:srgbClr val="2E75B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" name="Google Shape;9;p47"/>
          <p:cNvCxnSpPr/>
          <p:nvPr/>
        </p:nvCxnSpPr>
        <p:spPr>
          <a:xfrm>
            <a:off x="3042034" y="5122201"/>
            <a:ext cx="1530000" cy="0"/>
          </a:xfrm>
          <a:prstGeom prst="straightConnector1">
            <a:avLst/>
          </a:prstGeom>
          <a:noFill/>
          <a:ln cap="flat" cmpd="sng" w="76200">
            <a:solidFill>
              <a:srgbClr val="4EA4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" name="Google Shape;10;p47"/>
          <p:cNvCxnSpPr/>
          <p:nvPr/>
        </p:nvCxnSpPr>
        <p:spPr>
          <a:xfrm>
            <a:off x="4564841" y="5122201"/>
            <a:ext cx="1530000" cy="0"/>
          </a:xfrm>
          <a:prstGeom prst="straightConnector1">
            <a:avLst/>
          </a:prstGeom>
          <a:noFill/>
          <a:ln cap="flat" cmpd="sng" w="76200">
            <a:solidFill>
              <a:srgbClr val="20293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47"/>
          <p:cNvCxnSpPr/>
          <p:nvPr/>
        </p:nvCxnSpPr>
        <p:spPr>
          <a:xfrm>
            <a:off x="6087648" y="5122201"/>
            <a:ext cx="1530000" cy="0"/>
          </a:xfrm>
          <a:prstGeom prst="straightConnector1">
            <a:avLst/>
          </a:prstGeom>
          <a:noFill/>
          <a:ln cap="flat" cmpd="sng" w="76200">
            <a:solidFill>
              <a:srgbClr val="2E75B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47"/>
          <p:cNvCxnSpPr/>
          <p:nvPr/>
        </p:nvCxnSpPr>
        <p:spPr>
          <a:xfrm>
            <a:off x="7610456" y="5122201"/>
            <a:ext cx="1530000" cy="0"/>
          </a:xfrm>
          <a:prstGeom prst="straightConnector1">
            <a:avLst/>
          </a:prstGeom>
          <a:noFill/>
          <a:ln cap="flat" cmpd="sng" w="76200">
            <a:solidFill>
              <a:srgbClr val="4EA4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" name="Google Shape;13;p47"/>
          <p:cNvCxnSpPr/>
          <p:nvPr/>
        </p:nvCxnSpPr>
        <p:spPr>
          <a:xfrm>
            <a:off x="-3581" y="588"/>
            <a:ext cx="1530000" cy="0"/>
          </a:xfrm>
          <a:prstGeom prst="straightConnector1">
            <a:avLst/>
          </a:prstGeom>
          <a:noFill/>
          <a:ln cap="flat" cmpd="sng" w="76200">
            <a:solidFill>
              <a:srgbClr val="20293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" name="Google Shape;14;p47"/>
          <p:cNvCxnSpPr/>
          <p:nvPr/>
        </p:nvCxnSpPr>
        <p:spPr>
          <a:xfrm>
            <a:off x="1519226" y="588"/>
            <a:ext cx="1530000" cy="0"/>
          </a:xfrm>
          <a:prstGeom prst="straightConnector1">
            <a:avLst/>
          </a:prstGeom>
          <a:noFill/>
          <a:ln cap="flat" cmpd="sng" w="76200">
            <a:solidFill>
              <a:srgbClr val="2E75B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" name="Google Shape;15;p47"/>
          <p:cNvCxnSpPr/>
          <p:nvPr/>
        </p:nvCxnSpPr>
        <p:spPr>
          <a:xfrm>
            <a:off x="3042034" y="588"/>
            <a:ext cx="1530000" cy="0"/>
          </a:xfrm>
          <a:prstGeom prst="straightConnector1">
            <a:avLst/>
          </a:prstGeom>
          <a:noFill/>
          <a:ln cap="flat" cmpd="sng" w="76200">
            <a:solidFill>
              <a:srgbClr val="4EA4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" name="Google Shape;16;p47"/>
          <p:cNvCxnSpPr/>
          <p:nvPr/>
        </p:nvCxnSpPr>
        <p:spPr>
          <a:xfrm>
            <a:off x="4564841" y="588"/>
            <a:ext cx="1530000" cy="0"/>
          </a:xfrm>
          <a:prstGeom prst="straightConnector1">
            <a:avLst/>
          </a:prstGeom>
          <a:noFill/>
          <a:ln cap="flat" cmpd="sng" w="76200">
            <a:solidFill>
              <a:srgbClr val="20293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" name="Google Shape;17;p47"/>
          <p:cNvCxnSpPr/>
          <p:nvPr/>
        </p:nvCxnSpPr>
        <p:spPr>
          <a:xfrm>
            <a:off x="6087648" y="588"/>
            <a:ext cx="1530000" cy="0"/>
          </a:xfrm>
          <a:prstGeom prst="straightConnector1">
            <a:avLst/>
          </a:prstGeom>
          <a:noFill/>
          <a:ln cap="flat" cmpd="sng" w="76200">
            <a:solidFill>
              <a:srgbClr val="2E75B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47"/>
          <p:cNvCxnSpPr/>
          <p:nvPr/>
        </p:nvCxnSpPr>
        <p:spPr>
          <a:xfrm>
            <a:off x="7610456" y="588"/>
            <a:ext cx="1530000" cy="0"/>
          </a:xfrm>
          <a:prstGeom prst="straightConnector1">
            <a:avLst/>
          </a:prstGeom>
          <a:noFill/>
          <a:ln cap="flat" cmpd="sng" w="76200">
            <a:solidFill>
              <a:srgbClr val="4EA4AD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app.grapesjs.com/playground" TargetMode="External"/><Relationship Id="rId4" Type="http://schemas.openxmlformats.org/officeDocument/2006/relationships/image" Target="../media/image1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ocs.google.com/spreadsheets/d/1qGOgr8jCPi74QWvCKRewR7o-kfcxeXmYiidTCmusOmU/edit?usp=sharing" TargetMode="External"/><Relationship Id="rId4" Type="http://schemas.openxmlformats.org/officeDocument/2006/relationships/image" Target="../media/image1.jp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jpg"/><Relationship Id="rId4" Type="http://schemas.openxmlformats.org/officeDocument/2006/relationships/hyperlink" Target="http://thegraphcourses.org/courses/ai-llm-automations-with-python/topics/using-the-openai-llm-api-with-python/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5" Type="http://schemas.openxmlformats.org/officeDocument/2006/relationships/image" Target="../media/image11.png"/><Relationship Id="rId6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jpg"/><Relationship Id="rId4" Type="http://schemas.openxmlformats.org/officeDocument/2006/relationships/image" Target="../media/image19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jpg"/><Relationship Id="rId4" Type="http://schemas.openxmlformats.org/officeDocument/2006/relationships/image" Target="../media/image23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2.jpg"/><Relationship Id="rId4" Type="http://schemas.openxmlformats.org/officeDocument/2006/relationships/image" Target="../media/image26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fd23b1720_0_0"/>
          <p:cNvSpPr txBox="1"/>
          <p:nvPr>
            <p:ph type="ctrTitle"/>
          </p:nvPr>
        </p:nvSpPr>
        <p:spPr>
          <a:xfrm>
            <a:off x="1143000" y="275828"/>
            <a:ext cx="6858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en-US"/>
              <a:t>Help Session Note</a:t>
            </a:r>
            <a:endParaRPr/>
          </a:p>
        </p:txBody>
      </p:sp>
      <p:sp>
        <p:nvSpPr>
          <p:cNvPr id="67" name="Google Shape;67;g3bfd23b1720_0_0"/>
          <p:cNvSpPr txBox="1"/>
          <p:nvPr>
            <p:ph idx="1" type="subTitle"/>
          </p:nvPr>
        </p:nvSpPr>
        <p:spPr>
          <a:xfrm>
            <a:off x="1060100" y="1119754"/>
            <a:ext cx="6858000" cy="29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-US" sz="2500"/>
              <a:t>Welcome to the Help Session</a:t>
            </a:r>
            <a:endParaRPr sz="2500"/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500"/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-US" sz="2500"/>
              <a:t>The session runs for one hour before each workshop. </a:t>
            </a:r>
            <a:endParaRPr sz="2500"/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500"/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-US" sz="2500"/>
              <a:t>If you have any questions, please do raise your hand or speak up and I will be with you shortly.</a:t>
            </a:r>
            <a:endParaRPr sz="2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fd23b1720_0_5"/>
          <p:cNvSpPr txBox="1"/>
          <p:nvPr>
            <p:ph type="ctrTitle"/>
          </p:nvPr>
        </p:nvSpPr>
        <p:spPr>
          <a:xfrm>
            <a:off x="1143000" y="3072403"/>
            <a:ext cx="6858000" cy="1316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en-US"/>
              <a:t>Generative AI for Work &amp; Research</a:t>
            </a:r>
            <a:endParaRPr/>
          </a:p>
        </p:txBody>
      </p:sp>
      <p:pic>
        <p:nvPicPr>
          <p:cNvPr id="73" name="Google Shape;73;g3bfd23b1720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3330" y="650837"/>
            <a:ext cx="3389944" cy="2475354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g3bfd23b1720_0_5"/>
          <p:cNvSpPr txBox="1"/>
          <p:nvPr>
            <p:ph idx="1" type="subTitle"/>
          </p:nvPr>
        </p:nvSpPr>
        <p:spPr>
          <a:xfrm>
            <a:off x="1213650" y="4673554"/>
            <a:ext cx="6858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-US" sz="2500"/>
              <a:t>We’ll get started in a few minutes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 txBox="1"/>
          <p:nvPr>
            <p:ph idx="1" type="body"/>
          </p:nvPr>
        </p:nvSpPr>
        <p:spPr>
          <a:xfrm>
            <a:off x="237851" y="796575"/>
            <a:ext cx="6876000" cy="20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AutoNum type="arabicPeriod"/>
            </a:pPr>
            <a:r>
              <a:rPr lang="en-US" sz="2000"/>
              <a:t>👋🏽 Welcome, Announcements (5 mins)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AutoNum type="arabicPeriod"/>
            </a:pPr>
            <a:r>
              <a:rPr lang="en-US" sz="2000"/>
              <a:t>📝 Pre-work Recap, Workshop Intro and Demo (15 mins)</a:t>
            </a:r>
            <a:endParaRPr sz="2000"/>
          </a:p>
          <a:p>
            <a:pPr indent="-4572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AutoNum type="arabicPeriod"/>
            </a:pPr>
            <a:r>
              <a:rPr lang="en-US" sz="2000"/>
              <a:t>👩🏽‍💻 Workshop 3 Exercise (1 hour 10 minutes) </a:t>
            </a:r>
            <a:endParaRPr sz="20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AutoNum type="arabicPeriod"/>
            </a:pPr>
            <a:r>
              <a:rPr lang="en-US" sz="2000"/>
              <a:t>📣 Presentations (10 mins) </a:t>
            </a:r>
            <a:endParaRPr sz="2000"/>
          </a:p>
          <a:p>
            <a:pPr indent="-45085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👨🏻‍🏫 Additional Tool Demonstrations (20 mins) </a:t>
            </a:r>
            <a:endParaRPr sz="2000"/>
          </a:p>
        </p:txBody>
      </p:sp>
      <p:sp>
        <p:nvSpPr>
          <p:cNvPr id="80" name="Google Shape;80;p3"/>
          <p:cNvSpPr txBox="1"/>
          <p:nvPr>
            <p:ph type="title"/>
          </p:nvPr>
        </p:nvSpPr>
        <p:spPr>
          <a:xfrm>
            <a:off x="237839" y="192122"/>
            <a:ext cx="43341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Workshop Schedule</a:t>
            </a:r>
            <a:endParaRPr/>
          </a:p>
        </p:txBody>
      </p:sp>
      <p:sp>
        <p:nvSpPr>
          <p:cNvPr id="81" name="Google Shape;81;p3"/>
          <p:cNvSpPr txBox="1"/>
          <p:nvPr/>
        </p:nvSpPr>
        <p:spPr>
          <a:xfrm>
            <a:off x="1358100" y="3225950"/>
            <a:ext cx="6295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>(No Kahoot game today, as the workshop task is quite long)</a:t>
            </a:r>
            <a:endParaRPr b="0" i="0" sz="2000" u="none" cap="none" strike="noStrike">
              <a:solidFill>
                <a:srgbClr val="2029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7"/>
          <p:cNvSpPr txBox="1"/>
          <p:nvPr>
            <p:ph idx="1" type="body"/>
          </p:nvPr>
        </p:nvSpPr>
        <p:spPr>
          <a:xfrm>
            <a:off x="2460799" y="949775"/>
            <a:ext cx="4434300" cy="17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rPr b="1" lang="en-US" sz="4400"/>
              <a:t>Welcome, Announcements</a:t>
            </a:r>
            <a:endParaRPr b="1" sz="4000">
              <a:solidFill>
                <a:srgbClr val="A5A5A5"/>
              </a:solidFill>
            </a:endParaRPr>
          </a:p>
        </p:txBody>
      </p:sp>
      <p:pic>
        <p:nvPicPr>
          <p:cNvPr descr="Graphical user interface&#10;&#10;Description automatically generated with low confidence" id="87" name="Google Shape;8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5949" y="2767394"/>
            <a:ext cx="3027873" cy="202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g3854c283ccb_0_6"/>
          <p:cNvGrpSpPr/>
          <p:nvPr/>
        </p:nvGrpSpPr>
        <p:grpSpPr>
          <a:xfrm>
            <a:off x="285750" y="33250"/>
            <a:ext cx="8572500" cy="571500"/>
            <a:chOff x="285750" y="33250"/>
            <a:chExt cx="8572500" cy="571500"/>
          </a:xfrm>
        </p:grpSpPr>
        <p:cxnSp>
          <p:nvCxnSpPr>
            <p:cNvPr id="93" name="Google Shape;93;g3854c283ccb_0_6"/>
            <p:cNvCxnSpPr/>
            <p:nvPr/>
          </p:nvCxnSpPr>
          <p:spPr>
            <a:xfrm rot="10800000">
              <a:off x="642900" y="195300"/>
              <a:ext cx="0" cy="561900"/>
            </a:xfrm>
            <a:prstGeom prst="straightConnector1">
              <a:avLst/>
            </a:prstGeom>
            <a:solidFill>
              <a:srgbClr val="FFFFFF"/>
            </a:solidFill>
            <a:ln cap="flat" cmpd="sng" w="38100">
              <a:solidFill>
                <a:srgbClr val="57A7B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4" name="Google Shape;94;g3854c283ccb_0_6"/>
            <p:cNvSpPr txBox="1"/>
            <p:nvPr/>
          </p:nvSpPr>
          <p:spPr>
            <a:xfrm>
              <a:off x="285750" y="33250"/>
              <a:ext cx="8572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202934"/>
                  </a:solidFill>
                  <a:latin typeface="Calibri"/>
                  <a:ea typeface="Calibri"/>
                  <a:cs typeface="Calibri"/>
                  <a:sym typeface="Calibri"/>
                </a:rPr>
                <a:t>Three Ways to Edit Your Website</a:t>
              </a:r>
              <a:endParaRPr b="1" sz="2000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" name="Google Shape;95;g3854c283ccb_0_6"/>
          <p:cNvGrpSpPr/>
          <p:nvPr/>
        </p:nvGrpSpPr>
        <p:grpSpPr>
          <a:xfrm>
            <a:off x="230725" y="724498"/>
            <a:ext cx="2667000" cy="3986594"/>
            <a:chOff x="285750" y="952500"/>
            <a:chExt cx="2667000" cy="3238500"/>
          </a:xfrm>
        </p:grpSpPr>
        <p:sp>
          <p:nvSpPr>
            <p:cNvPr id="96" name="Google Shape;96;g3854c283ccb_0_6"/>
            <p:cNvSpPr/>
            <p:nvPr/>
          </p:nvSpPr>
          <p:spPr>
            <a:xfrm>
              <a:off x="285750" y="952500"/>
              <a:ext cx="2667000" cy="3238500"/>
            </a:xfrm>
            <a:prstGeom prst="roundRect">
              <a:avLst>
                <a:gd fmla="val 5357" name="adj"/>
              </a:avLst>
            </a:prstGeom>
            <a:solidFill>
              <a:srgbClr val="FFFFFF"/>
            </a:solidFill>
            <a:ln cap="flat" cmpd="sng" w="9525">
              <a:solidFill>
                <a:srgbClr val="D4D3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g3854c283ccb_0_6"/>
            <p:cNvSpPr txBox="1"/>
            <p:nvPr/>
          </p:nvSpPr>
          <p:spPr>
            <a:xfrm>
              <a:off x="428625" y="1095375"/>
              <a:ext cx="23814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202934"/>
                  </a:solidFill>
                  <a:latin typeface="Calibri"/>
                  <a:ea typeface="Calibri"/>
                  <a:cs typeface="Calibri"/>
                  <a:sym typeface="Calibri"/>
                </a:rPr>
                <a:t>1. GitHub Direct Edit</a:t>
              </a:r>
              <a:endParaRPr b="1" sz="1600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F4F5C"/>
                  </a:solidFill>
                  <a:latin typeface="Calibri"/>
                  <a:ea typeface="Calibri"/>
                  <a:cs typeface="Calibri"/>
                  <a:sym typeface="Calibri"/>
                </a:rPr>
                <a:t>Best for very simple text replacements.</a:t>
              </a:r>
              <a:endParaRPr sz="1100">
                <a:solidFill>
                  <a:srgbClr val="4F4F5C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202934"/>
                </a:buClr>
                <a:buSzPts val="1100"/>
                <a:buFont typeface="Calibri"/>
                <a:buAutoNum type="arabicPeriod"/>
              </a:pPr>
              <a:r>
                <a:rPr lang="en-US" sz="1100">
                  <a:solidFill>
                    <a:srgbClr val="202934"/>
                  </a:solidFill>
                  <a:latin typeface="Calibri"/>
                  <a:ea typeface="Calibri"/>
                  <a:cs typeface="Calibri"/>
                  <a:sym typeface="Calibri"/>
                </a:rPr>
                <a:t>Go to your GitHub repo </a:t>
              </a:r>
              <a:r>
                <a:rPr b="1" lang="en-US" sz="1100">
                  <a:solidFill>
                    <a:srgbClr val="202934"/>
                  </a:solidFill>
                  <a:latin typeface="Calibri"/>
                  <a:ea typeface="Calibri"/>
                  <a:cs typeface="Calibri"/>
                  <a:sym typeface="Calibri"/>
                </a:rPr>
                <a:t>index.html</a:t>
              </a:r>
              <a:r>
                <a:rPr lang="en-US" sz="1100">
                  <a:solidFill>
                    <a:srgbClr val="202934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100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02934"/>
                </a:buClr>
                <a:buSzPts val="1100"/>
                <a:buFont typeface="Calibri"/>
                <a:buAutoNum type="arabicPeriod"/>
              </a:pPr>
              <a:r>
                <a:rPr lang="en-US" sz="1100">
                  <a:solidFill>
                    <a:srgbClr val="202934"/>
                  </a:solidFill>
                  <a:latin typeface="Calibri"/>
                  <a:ea typeface="Calibri"/>
                  <a:cs typeface="Calibri"/>
                  <a:sym typeface="Calibri"/>
                </a:rPr>
                <a:t>Click the pencil icon to </a:t>
              </a:r>
              <a:r>
                <a:rPr b="1" lang="en-US" sz="1100">
                  <a:solidFill>
                    <a:srgbClr val="202934"/>
                  </a:solidFill>
                  <a:latin typeface="Calibri"/>
                  <a:ea typeface="Calibri"/>
                  <a:cs typeface="Calibri"/>
                  <a:sym typeface="Calibri"/>
                </a:rPr>
                <a:t>edit</a:t>
              </a:r>
              <a:r>
                <a:rPr lang="en-US" sz="1100">
                  <a:solidFill>
                    <a:srgbClr val="202934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100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02934"/>
                </a:buClr>
                <a:buSzPts val="1100"/>
                <a:buFont typeface="Calibri"/>
                <a:buAutoNum type="arabicPeriod"/>
              </a:pPr>
              <a:r>
                <a:rPr lang="en-US" sz="1100">
                  <a:solidFill>
                    <a:srgbClr val="202934"/>
                  </a:solidFill>
                  <a:latin typeface="Calibri"/>
                  <a:ea typeface="Calibri"/>
                  <a:cs typeface="Calibri"/>
                  <a:sym typeface="Calibri"/>
                </a:rPr>
                <a:t>Press </a:t>
              </a:r>
              <a:r>
                <a:rPr b="1" lang="en-US" sz="1100">
                  <a:solidFill>
                    <a:srgbClr val="202934"/>
                  </a:solidFill>
                  <a:latin typeface="Calibri"/>
                  <a:ea typeface="Calibri"/>
                  <a:cs typeface="Calibri"/>
                  <a:sym typeface="Calibri"/>
                </a:rPr>
                <a:t>Ctrl+F</a:t>
              </a:r>
              <a:r>
                <a:rPr lang="en-US" sz="1100">
                  <a:solidFill>
                    <a:srgbClr val="202934"/>
                  </a:solidFill>
                  <a:latin typeface="Calibri"/>
                  <a:ea typeface="Calibri"/>
                  <a:cs typeface="Calibri"/>
                  <a:sym typeface="Calibri"/>
                </a:rPr>
                <a:t> to find text.</a:t>
              </a:r>
              <a:endParaRPr sz="1100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202934"/>
                </a:buClr>
                <a:buSzPts val="1100"/>
                <a:buFont typeface="Calibri"/>
                <a:buAutoNum type="arabicPeriod"/>
              </a:pPr>
              <a:r>
                <a:rPr lang="en-US" sz="1100">
                  <a:solidFill>
                    <a:srgbClr val="202934"/>
                  </a:solidFill>
                  <a:latin typeface="Calibri"/>
                  <a:ea typeface="Calibri"/>
                  <a:cs typeface="Calibri"/>
                  <a:sym typeface="Calibri"/>
                </a:rPr>
                <a:t>Search, replace, and then </a:t>
              </a:r>
              <a:r>
                <a:rPr b="1" lang="en-US" sz="1100">
                  <a:solidFill>
                    <a:srgbClr val="202934"/>
                  </a:solidFill>
                  <a:latin typeface="Calibri"/>
                  <a:ea typeface="Calibri"/>
                  <a:cs typeface="Calibri"/>
                  <a:sym typeface="Calibri"/>
                </a:rPr>
                <a:t>commit</a:t>
              </a:r>
              <a:r>
                <a:rPr lang="en-US" sz="1100">
                  <a:solidFill>
                    <a:srgbClr val="202934"/>
                  </a:solidFill>
                  <a:latin typeface="Calibri"/>
                  <a:ea typeface="Calibri"/>
                  <a:cs typeface="Calibri"/>
                  <a:sym typeface="Calibri"/>
                </a:rPr>
                <a:t> changes.</a:t>
              </a:r>
              <a:endParaRPr sz="1100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" name="Google Shape;98;g3854c283ccb_0_6"/>
          <p:cNvGrpSpPr/>
          <p:nvPr/>
        </p:nvGrpSpPr>
        <p:grpSpPr>
          <a:xfrm>
            <a:off x="3183475" y="724498"/>
            <a:ext cx="2667000" cy="3986594"/>
            <a:chOff x="3238500" y="952500"/>
            <a:chExt cx="2667000" cy="3238500"/>
          </a:xfrm>
        </p:grpSpPr>
        <p:sp>
          <p:nvSpPr>
            <p:cNvPr id="99" name="Google Shape;99;g3854c283ccb_0_6"/>
            <p:cNvSpPr/>
            <p:nvPr/>
          </p:nvSpPr>
          <p:spPr>
            <a:xfrm>
              <a:off x="3238500" y="952500"/>
              <a:ext cx="2667000" cy="3238500"/>
            </a:xfrm>
            <a:prstGeom prst="roundRect">
              <a:avLst>
                <a:gd fmla="val 5357" name="adj"/>
              </a:avLst>
            </a:prstGeom>
            <a:solidFill>
              <a:srgbClr val="FFFFFF"/>
            </a:solidFill>
            <a:ln cap="flat" cmpd="sng" w="9525">
              <a:solidFill>
                <a:srgbClr val="D4D3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g3854c283ccb_0_6"/>
            <p:cNvSpPr txBox="1"/>
            <p:nvPr/>
          </p:nvSpPr>
          <p:spPr>
            <a:xfrm>
              <a:off x="3381375" y="1095375"/>
              <a:ext cx="23814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202934"/>
                  </a:solidFill>
                  <a:latin typeface="Calibri"/>
                  <a:ea typeface="Calibri"/>
                  <a:cs typeface="Calibri"/>
                  <a:sym typeface="Calibri"/>
                </a:rPr>
                <a:t>2. GUI Editor (GrapesJS)</a:t>
              </a:r>
              <a:endParaRPr b="1" sz="1600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F4F5C"/>
                  </a:solidFill>
                  <a:latin typeface="Calibri"/>
                  <a:ea typeface="Calibri"/>
                  <a:cs typeface="Calibri"/>
                  <a:sym typeface="Calibri"/>
                </a:rPr>
                <a:t>For slightly more complex tasks (e.g., adding links).</a:t>
              </a:r>
              <a:endParaRPr sz="1100">
                <a:solidFill>
                  <a:srgbClr val="4F4F5C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02934"/>
                  </a:solidFill>
                  <a:latin typeface="Calibri"/>
                  <a:ea typeface="Calibri"/>
                  <a:cs typeface="Calibri"/>
                  <a:sym typeface="Calibri"/>
                </a:rPr>
                <a:t>Use </a:t>
              </a:r>
              <a:r>
                <a:rPr lang="en-US" sz="1100" u="sng">
                  <a:solidFill>
                    <a:schemeClr val="hlink"/>
                  </a:solidFill>
                  <a:latin typeface="Calibri"/>
                  <a:ea typeface="Calibri"/>
                  <a:cs typeface="Calibri"/>
                  <a:sym typeface="Calibri"/>
                  <a:hlinkClick r:id="rId3"/>
                </a:rPr>
                <a:t>app.grapesjs.com/playground</a:t>
              </a:r>
              <a:r>
                <a:rPr lang="en-US" sz="1100">
                  <a:solidFill>
                    <a:srgbClr val="202934"/>
                  </a:solidFill>
                  <a:latin typeface="Calibri"/>
                  <a:ea typeface="Calibri"/>
                  <a:cs typeface="Calibri"/>
                  <a:sym typeface="Calibri"/>
                </a:rPr>
                <a:t> as a visual builder.</a:t>
              </a:r>
              <a:endParaRPr sz="1100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02934"/>
                  </a:solidFill>
                  <a:latin typeface="Calibri"/>
                  <a:ea typeface="Calibri"/>
                  <a:cs typeface="Calibri"/>
                  <a:sym typeface="Calibri"/>
                </a:rPr>
                <a:t>Click the “Import code” icon to import your code. Paste in your website code. </a:t>
              </a:r>
              <a:endParaRPr sz="1100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02934"/>
                  </a:solidFill>
                  <a:latin typeface="Calibri"/>
                  <a:ea typeface="Calibri"/>
                  <a:cs typeface="Calibri"/>
                  <a:sym typeface="Calibri"/>
                </a:rPr>
                <a:t>Then edit in the GUI. When done, again click the import code button, then copy your code back out into GitHub</a:t>
              </a:r>
              <a:endParaRPr sz="1100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i="1" lang="en-US" sz="1000">
                  <a:solidFill>
                    <a:srgbClr val="BA3B21"/>
                  </a:solidFill>
                  <a:latin typeface="Calibri"/>
                  <a:ea typeface="Calibri"/>
                  <a:cs typeface="Calibri"/>
                  <a:sym typeface="Calibri"/>
                </a:rPr>
                <a:t>Note: Can sometimes break complex UIs.</a:t>
              </a:r>
              <a:endParaRPr i="1" sz="1000">
                <a:solidFill>
                  <a:srgbClr val="BA3B2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1;g3854c283ccb_0_6"/>
          <p:cNvGrpSpPr/>
          <p:nvPr/>
        </p:nvGrpSpPr>
        <p:grpSpPr>
          <a:xfrm>
            <a:off x="6136225" y="724498"/>
            <a:ext cx="2667000" cy="3986594"/>
            <a:chOff x="6191250" y="952500"/>
            <a:chExt cx="2667000" cy="3238500"/>
          </a:xfrm>
        </p:grpSpPr>
        <p:sp>
          <p:nvSpPr>
            <p:cNvPr id="102" name="Google Shape;102;g3854c283ccb_0_6"/>
            <p:cNvSpPr/>
            <p:nvPr/>
          </p:nvSpPr>
          <p:spPr>
            <a:xfrm>
              <a:off x="6191250" y="952500"/>
              <a:ext cx="2667000" cy="3238500"/>
            </a:xfrm>
            <a:prstGeom prst="roundRect">
              <a:avLst>
                <a:gd fmla="val 5357" name="adj"/>
              </a:avLst>
            </a:prstGeom>
            <a:solidFill>
              <a:srgbClr val="FFFFFF"/>
            </a:solidFill>
            <a:ln cap="flat" cmpd="sng" w="9525">
              <a:solidFill>
                <a:srgbClr val="D4D3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g3854c283ccb_0_6"/>
            <p:cNvSpPr txBox="1"/>
            <p:nvPr/>
          </p:nvSpPr>
          <p:spPr>
            <a:xfrm>
              <a:off x="6334125" y="1095375"/>
              <a:ext cx="23814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202934"/>
                  </a:solidFill>
                  <a:latin typeface="Calibri"/>
                  <a:ea typeface="Calibri"/>
                  <a:cs typeface="Calibri"/>
                  <a:sym typeface="Calibri"/>
                </a:rPr>
                <a:t>3. AI Model Assistance</a:t>
              </a:r>
              <a:endParaRPr b="1" sz="1600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F4F5C"/>
                  </a:solidFill>
                  <a:latin typeface="Calibri"/>
                  <a:ea typeface="Calibri"/>
                  <a:cs typeface="Calibri"/>
                  <a:sym typeface="Calibri"/>
                </a:rPr>
                <a:t>For complex structural changes or new features.</a:t>
              </a:r>
              <a:endParaRPr sz="1100">
                <a:solidFill>
                  <a:srgbClr val="4F4F5C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02934"/>
                  </a:solidFill>
                  <a:latin typeface="Calibri"/>
                  <a:ea typeface="Calibri"/>
                  <a:cs typeface="Calibri"/>
                  <a:sym typeface="Calibri"/>
                </a:rPr>
                <a:t>Simply ask the LLM to write or modify the code for you based on your specific requirements.</a:t>
              </a:r>
              <a:endParaRPr sz="1100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4" name="Google Shape;104;g3854c283ccb_0_6" title="CleanShot 2026-05-24 at 19.18.24@2x.jpg"/>
          <p:cNvPicPr preferRelativeResize="0"/>
          <p:nvPr/>
        </p:nvPicPr>
        <p:blipFill rotWithShape="1">
          <a:blip r:embed="rId4">
            <a:alphaModFix/>
          </a:blip>
          <a:srcRect b="33333" l="24145" r="0" t="0"/>
          <a:stretch/>
        </p:blipFill>
        <p:spPr>
          <a:xfrm>
            <a:off x="3381600" y="2490350"/>
            <a:ext cx="2340125" cy="76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0" name="Google Shape;110;g35215968463_2_8"/>
          <p:cNvCxnSpPr/>
          <p:nvPr/>
        </p:nvCxnSpPr>
        <p:spPr>
          <a:xfrm>
            <a:off x="359564" y="485653"/>
            <a:ext cx="558300" cy="0"/>
          </a:xfrm>
          <a:prstGeom prst="straightConnector1">
            <a:avLst/>
          </a:prstGeom>
          <a:noFill/>
          <a:ln cap="flat" cmpd="sng" w="38100">
            <a:solidFill>
              <a:srgbClr val="57A7B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g35215968463_2_8"/>
          <p:cNvSpPr txBox="1"/>
          <p:nvPr/>
        </p:nvSpPr>
        <p:spPr>
          <a:xfrm>
            <a:off x="266600" y="96725"/>
            <a:ext cx="84564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Reminder: We can’t see group chat in breakout rooms. Raise hand or Ask for Help</a:t>
            </a:r>
            <a:endParaRPr b="1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g35215968463_2_8"/>
          <p:cNvCxnSpPr/>
          <p:nvPr/>
        </p:nvCxnSpPr>
        <p:spPr>
          <a:xfrm>
            <a:off x="359564" y="485653"/>
            <a:ext cx="558300" cy="0"/>
          </a:xfrm>
          <a:prstGeom prst="straightConnector1">
            <a:avLst/>
          </a:prstGeom>
          <a:noFill/>
          <a:ln cap="flat" cmpd="sng" w="38100">
            <a:solidFill>
              <a:srgbClr val="57A7B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3" name="Google Shape;113;g35215968463_2_8" title="66b35c7eb41ed02cb2699daa_How to Raise Your Hand on Zoom Desktop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125152"/>
            <a:ext cx="4024125" cy="24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g35215968463_2_8" title="1_37XDdssbAjeHT4nQZFbeuA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3925" y="1147713"/>
            <a:ext cx="4172100" cy="236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g35215968463_2_8"/>
          <p:cNvSpPr/>
          <p:nvPr/>
        </p:nvSpPr>
        <p:spPr>
          <a:xfrm>
            <a:off x="5143850" y="2623150"/>
            <a:ext cx="1889100" cy="1098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5215968463_2_8"/>
          <p:cNvSpPr/>
          <p:nvPr/>
        </p:nvSpPr>
        <p:spPr>
          <a:xfrm>
            <a:off x="5375925" y="1950475"/>
            <a:ext cx="2362500" cy="56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58933c432d_2_0"/>
          <p:cNvSpPr txBox="1"/>
          <p:nvPr>
            <p:ph type="ctrTitle"/>
          </p:nvPr>
        </p:nvSpPr>
        <p:spPr>
          <a:xfrm>
            <a:off x="1142988" y="3263011"/>
            <a:ext cx="6858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2934"/>
              </a:buClr>
              <a:buSzPts val="4500"/>
              <a:buFont typeface="Calibri"/>
              <a:buNone/>
            </a:pPr>
            <a:r>
              <a:rPr lang="en-US"/>
              <a:t>Workshop Intro</a:t>
            </a:r>
            <a:endParaRPr sz="4600">
              <a:solidFill>
                <a:schemeClr val="dk2"/>
              </a:solidFill>
            </a:endParaRPr>
          </a:p>
        </p:txBody>
      </p:sp>
      <p:pic>
        <p:nvPicPr>
          <p:cNvPr descr="Graphical user interface&#10;&#10;Description automatically generated with low confidence" id="122" name="Google Shape;122;g258933c432d_2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8075" y="1060819"/>
            <a:ext cx="3027873" cy="202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954a240fe_1_253"/>
          <p:cNvSpPr txBox="1"/>
          <p:nvPr>
            <p:ph type="title"/>
          </p:nvPr>
        </p:nvSpPr>
        <p:spPr>
          <a:xfrm>
            <a:off x="275004" y="125650"/>
            <a:ext cx="6840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0"/>
              <a:buNone/>
            </a:pPr>
            <a:r>
              <a:rPr lang="en-US"/>
              <a:t>Pre-work recap: using LLMs in spreadsheets</a:t>
            </a:r>
            <a:endParaRPr/>
          </a:p>
        </p:txBody>
      </p:sp>
      <p:cxnSp>
        <p:nvCxnSpPr>
          <p:cNvPr id="129" name="Google Shape;129;g35954a240fe_1_253"/>
          <p:cNvCxnSpPr/>
          <p:nvPr/>
        </p:nvCxnSpPr>
        <p:spPr>
          <a:xfrm>
            <a:off x="359564" y="485653"/>
            <a:ext cx="558300" cy="0"/>
          </a:xfrm>
          <a:prstGeom prst="straightConnector1">
            <a:avLst/>
          </a:prstGeom>
          <a:noFill/>
          <a:ln cap="flat" cmpd="sng" w="38100">
            <a:solidFill>
              <a:srgbClr val="57A7B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30" name="Google Shape;130;g35954a240fe_1_253" title="ChatGPT Image May 23, 2025, 03_33_27 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575" y="617600"/>
            <a:ext cx="2812124" cy="281212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5954a240fe_1_253"/>
          <p:cNvSpPr txBox="1"/>
          <p:nvPr/>
        </p:nvSpPr>
        <p:spPr>
          <a:xfrm>
            <a:off x="3762825" y="1364225"/>
            <a:ext cx="1012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g35954a240fe_1_253" title="ChatGPT Image May 23, 2025, 03_33_31 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1325" y="485650"/>
            <a:ext cx="2812124" cy="281212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5954a240fe_1_253"/>
          <p:cNvSpPr/>
          <p:nvPr/>
        </p:nvSpPr>
        <p:spPr>
          <a:xfrm>
            <a:off x="805840" y="3740875"/>
            <a:ext cx="34953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17D86"/>
              </a:buClr>
              <a:buSzPts val="1400"/>
              <a:buFont typeface="Nunito Sans"/>
              <a:buNone/>
            </a:pPr>
            <a:r>
              <a:rPr b="1" i="0" lang="en-US" sz="1600" u="none" cap="none" strike="noStrike">
                <a:solidFill>
                  <a:srgbClr val="417D86"/>
                </a:solidFill>
                <a:latin typeface="Nunito Sans"/>
                <a:ea typeface="Nunito Sans"/>
                <a:cs typeface="Nunito Sans"/>
                <a:sym typeface="Nunito Sans"/>
              </a:rPr>
              <a:t>Graphical User Interface (GUI)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5954a240fe_1_253"/>
          <p:cNvSpPr/>
          <p:nvPr/>
        </p:nvSpPr>
        <p:spPr>
          <a:xfrm>
            <a:off x="521456" y="4086252"/>
            <a:ext cx="3903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02934"/>
              </a:buClr>
              <a:buSzPts val="1100"/>
              <a:buFont typeface="Nunito Sans"/>
              <a:buNone/>
            </a:pPr>
            <a:r>
              <a:rPr b="1" i="0" lang="en-US" sz="1300" u="none" cap="none" strike="noStrike">
                <a:solidFill>
                  <a:srgbClr val="202934"/>
                </a:solidFill>
                <a:latin typeface="Nunito Sans"/>
                <a:ea typeface="Nunito Sans"/>
                <a:cs typeface="Nunito Sans"/>
                <a:sym typeface="Nunito Sans"/>
              </a:rPr>
              <a:t>Visual interface designed for human interaction.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5954a240fe_1_253"/>
          <p:cNvSpPr/>
          <p:nvPr/>
        </p:nvSpPr>
        <p:spPr>
          <a:xfrm>
            <a:off x="4651762" y="3740875"/>
            <a:ext cx="40941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17D86"/>
              </a:buClr>
              <a:buSzPts val="1400"/>
              <a:buFont typeface="Nunito Sans"/>
              <a:buNone/>
            </a:pPr>
            <a:r>
              <a:rPr b="1" i="0" lang="en-US" sz="1600" u="none" cap="none" strike="noStrike">
                <a:solidFill>
                  <a:srgbClr val="417D86"/>
                </a:solidFill>
                <a:latin typeface="Nunito Sans"/>
                <a:ea typeface="Nunito Sans"/>
                <a:cs typeface="Nunito Sans"/>
                <a:sym typeface="Nunito Sans"/>
              </a:rPr>
              <a:t>Application Programming Interface (API)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5954a240fe_1_253"/>
          <p:cNvSpPr/>
          <p:nvPr/>
        </p:nvSpPr>
        <p:spPr>
          <a:xfrm>
            <a:off x="4651738" y="4086239"/>
            <a:ext cx="3903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02934"/>
              </a:buClr>
              <a:buSzPts val="1100"/>
              <a:buFont typeface="Nunito Sans"/>
              <a:buNone/>
            </a:pPr>
            <a:r>
              <a:rPr b="1" i="0" lang="en-US" sz="1300" u="none" cap="none" strike="noStrike">
                <a:solidFill>
                  <a:srgbClr val="202934"/>
                </a:solidFill>
                <a:latin typeface="Nunito Sans"/>
                <a:ea typeface="Nunito Sans"/>
                <a:cs typeface="Nunito Sans"/>
                <a:sym typeface="Nunito Sans"/>
              </a:rPr>
              <a:t>Code-based interface for program interactions.</a:t>
            </a:r>
            <a:endParaRPr b="1" i="0" sz="1300" u="none" cap="none" strike="noStrike">
              <a:solidFill>
                <a:srgbClr val="202934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54c283ccb_0_74"/>
          <p:cNvSpPr txBox="1"/>
          <p:nvPr>
            <p:ph type="title"/>
          </p:nvPr>
        </p:nvSpPr>
        <p:spPr>
          <a:xfrm>
            <a:off x="275004" y="125650"/>
            <a:ext cx="6840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0"/>
              <a:buNone/>
            </a:pPr>
            <a:r>
              <a:rPr lang="en-US"/>
              <a:t>Reminder of pre-work </a:t>
            </a:r>
            <a:endParaRPr/>
          </a:p>
        </p:txBody>
      </p:sp>
      <p:cxnSp>
        <p:nvCxnSpPr>
          <p:cNvPr id="143" name="Google Shape;143;g3854c283ccb_0_74"/>
          <p:cNvCxnSpPr/>
          <p:nvPr/>
        </p:nvCxnSpPr>
        <p:spPr>
          <a:xfrm>
            <a:off x="359564" y="485653"/>
            <a:ext cx="558300" cy="0"/>
          </a:xfrm>
          <a:prstGeom prst="straightConnector1">
            <a:avLst/>
          </a:prstGeom>
          <a:noFill/>
          <a:ln cap="flat" cmpd="sng" w="38100">
            <a:solidFill>
              <a:srgbClr val="57A7B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g3854c283ccb_0_74"/>
          <p:cNvSpPr/>
          <p:nvPr/>
        </p:nvSpPr>
        <p:spPr>
          <a:xfrm>
            <a:off x="355652" y="567250"/>
            <a:ext cx="84327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17D86"/>
              </a:buClr>
              <a:buSzPts val="1400"/>
              <a:buFont typeface="Nunito Sans"/>
              <a:buNone/>
            </a:pPr>
            <a:r>
              <a:rPr b="1" i="0" lang="en-US" sz="1200" u="sng" cap="none" strike="noStrike">
                <a:solidFill>
                  <a:schemeClr val="hlink"/>
                </a:solidFill>
                <a:latin typeface="Nunito Sans"/>
                <a:ea typeface="Nunito Sans"/>
                <a:cs typeface="Nunito Sans"/>
                <a:sym typeface="Nunito Sans"/>
                <a:hlinkClick r:id="rId3"/>
              </a:rPr>
              <a:t>https://docs.google.com/spreadsheets/d/1qGOgr8jCPi74QWvCKRewR7o-kfcxeXmYiidTCmusOmU/</a:t>
            </a:r>
            <a:endParaRPr b="1" i="0" sz="1200" u="none" cap="none" strike="noStrike">
              <a:solidFill>
                <a:srgbClr val="417D86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17D86"/>
              </a:buClr>
              <a:buSzPts val="1400"/>
              <a:buFont typeface="Nunito Sans"/>
              <a:buNone/>
            </a:pPr>
            <a:r>
              <a:rPr b="1" lang="en-US" sz="1200">
                <a:solidFill>
                  <a:srgbClr val="417D86"/>
                </a:solidFill>
                <a:latin typeface="Nunito Sans"/>
                <a:ea typeface="Nunito Sans"/>
                <a:cs typeface="Nunito Sans"/>
                <a:sym typeface="Nunito Sans"/>
              </a:rPr>
              <a:t>https://thegraphcourses.org/courses/aiw-2026-t2/topics/using-llm-apis-with-openrouter-and-google-sheets-2/</a:t>
            </a:r>
            <a:endParaRPr b="1" i="0" sz="1200" u="none" cap="none" strike="noStrike">
              <a:solidFill>
                <a:srgbClr val="417D86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45" name="Google Shape;145;g3854c283ccb_0_74" title="CleanShot 2025-08-31 at 16.17.34@2x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82250" y="1082450"/>
            <a:ext cx="3676057" cy="382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5caa9fba86_0_109"/>
          <p:cNvSpPr txBox="1"/>
          <p:nvPr>
            <p:ph type="title"/>
          </p:nvPr>
        </p:nvSpPr>
        <p:spPr>
          <a:xfrm>
            <a:off x="275004" y="125650"/>
            <a:ext cx="6840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0"/>
              <a:buNone/>
            </a:pPr>
            <a:r>
              <a:rPr lang="en-US"/>
              <a:t>Live demo: Gemini Notebook</a:t>
            </a:r>
            <a:endParaRPr/>
          </a:p>
        </p:txBody>
      </p:sp>
      <p:cxnSp>
        <p:nvCxnSpPr>
          <p:cNvPr id="152" name="Google Shape;152;g35caa9fba86_0_109"/>
          <p:cNvCxnSpPr/>
          <p:nvPr/>
        </p:nvCxnSpPr>
        <p:spPr>
          <a:xfrm>
            <a:off x="359564" y="485653"/>
            <a:ext cx="558300" cy="0"/>
          </a:xfrm>
          <a:prstGeom prst="straightConnector1">
            <a:avLst/>
          </a:prstGeom>
          <a:noFill/>
          <a:ln cap="flat" cmpd="sng" w="38100">
            <a:solidFill>
              <a:srgbClr val="57A7B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53" name="Google Shape;153;g35caa9fba86_0_109" title="CleanShot 2025-05-23 at 15.42.10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4440" y="868680"/>
            <a:ext cx="6675120" cy="24931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ca0348706c_0_0"/>
          <p:cNvSpPr txBox="1"/>
          <p:nvPr>
            <p:ph idx="1" type="body"/>
          </p:nvPr>
        </p:nvSpPr>
        <p:spPr>
          <a:xfrm>
            <a:off x="0" y="1289850"/>
            <a:ext cx="91440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4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✨</a:t>
            </a: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Breakout Rooms!</a:t>
            </a:r>
            <a:r>
              <a:rPr b="1" i="0" lang="en-US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✨</a:t>
            </a:r>
            <a:endParaRPr b="1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g2ca0348706c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5025" y="2982825"/>
            <a:ext cx="5313951" cy="275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g2ca0348706c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06370" y="4607242"/>
            <a:ext cx="760845" cy="18252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g2ca0348706c_0_0"/>
          <p:cNvSpPr txBox="1"/>
          <p:nvPr>
            <p:ph idx="4294967295" type="ctrTitle"/>
          </p:nvPr>
        </p:nvSpPr>
        <p:spPr>
          <a:xfrm>
            <a:off x="1109513" y="1073836"/>
            <a:ext cx="68580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2934"/>
              </a:buClr>
              <a:buSzPts val="4500"/>
              <a:buFont typeface="Calibri"/>
              <a:buNone/>
            </a:pPr>
            <a:r>
              <a:rPr b="1" i="0" lang="en-US" sz="2400" u="none" cap="none" strike="noStrike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>EXERCISE TIME</a:t>
            </a:r>
            <a:endParaRPr b="1" i="0" sz="4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ca0348706c_0_4"/>
          <p:cNvSpPr txBox="1"/>
          <p:nvPr>
            <p:ph idx="1" type="body"/>
          </p:nvPr>
        </p:nvSpPr>
        <p:spPr>
          <a:xfrm>
            <a:off x="0" y="1222975"/>
            <a:ext cx="9144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Presentations</a:t>
            </a:r>
            <a:r>
              <a:rPr b="1" i="0" lang="en-US" sz="4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✨</a:t>
            </a:r>
            <a:endParaRPr b="1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g2ca0348706c_0_4"/>
          <p:cNvPicPr preferRelativeResize="0"/>
          <p:nvPr/>
        </p:nvPicPr>
        <p:blipFill rotWithShape="1">
          <a:blip r:embed="rId3">
            <a:alphaModFix/>
          </a:blip>
          <a:srcRect b="0" l="0" r="0" t="23130"/>
          <a:stretch/>
        </p:blipFill>
        <p:spPr>
          <a:xfrm>
            <a:off x="1805250" y="2249525"/>
            <a:ext cx="5533500" cy="4253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d39d9a122_0_103"/>
          <p:cNvSpPr txBox="1"/>
          <p:nvPr>
            <p:ph idx="4294967295" type="title"/>
          </p:nvPr>
        </p:nvSpPr>
        <p:spPr>
          <a:xfrm>
            <a:off x="274999" y="125650"/>
            <a:ext cx="86004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0"/>
              <a:buNone/>
            </a:pPr>
            <a:r>
              <a:rPr lang="en-US"/>
              <a:t>Built in AI function with Google Sheets</a:t>
            </a:r>
            <a:endParaRPr/>
          </a:p>
        </p:txBody>
      </p:sp>
      <p:cxnSp>
        <p:nvCxnSpPr>
          <p:cNvPr id="173" name="Google Shape;173;g39d39d9a122_0_103"/>
          <p:cNvCxnSpPr/>
          <p:nvPr/>
        </p:nvCxnSpPr>
        <p:spPr>
          <a:xfrm>
            <a:off x="359564" y="485653"/>
            <a:ext cx="558300" cy="0"/>
          </a:xfrm>
          <a:prstGeom prst="straightConnector1">
            <a:avLst/>
          </a:prstGeom>
          <a:noFill/>
          <a:ln cap="flat" cmpd="sng" w="38100">
            <a:solidFill>
              <a:srgbClr val="57A7B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74" name="Google Shape;174;g39d39d9a122_0_103" title="CleanShot 2025-10-26 at 18.26.35@2x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549" y="693675"/>
            <a:ext cx="4726426" cy="4066374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39d39d9a122_0_103"/>
          <p:cNvSpPr txBox="1"/>
          <p:nvPr>
            <p:ph idx="4294967295" type="title"/>
          </p:nvPr>
        </p:nvSpPr>
        <p:spPr>
          <a:xfrm>
            <a:off x="359575" y="693675"/>
            <a:ext cx="3873900" cy="11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33332"/>
              <a:buNone/>
            </a:pPr>
            <a:r>
              <a:rPr lang="en-US" sz="2000"/>
              <a:t>Limitations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33332"/>
              <a:buNone/>
            </a:pPr>
            <a:r>
              <a:rPr b="0" lang="en-US" sz="2000"/>
              <a:t>• Limited control </a:t>
            </a:r>
            <a:r>
              <a:rPr b="0" lang="en-US" sz="2000"/>
              <a:t>over</a:t>
            </a:r>
            <a:r>
              <a:rPr b="0" lang="en-US" sz="2000"/>
              <a:t> models</a:t>
            </a:r>
            <a:endParaRPr b="0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3332"/>
              <a:buFont typeface="Arial"/>
              <a:buNone/>
            </a:pPr>
            <a:r>
              <a:rPr b="0" lang="en-US" sz="2000"/>
              <a:t>• Opaque pricing and rate limits</a:t>
            </a:r>
            <a:endParaRPr b="0"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33332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9ee578634_0_161"/>
          <p:cNvSpPr txBox="1"/>
          <p:nvPr>
            <p:ph idx="4294967295" type="title"/>
          </p:nvPr>
        </p:nvSpPr>
        <p:spPr>
          <a:xfrm>
            <a:off x="274999" y="125650"/>
            <a:ext cx="86004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0"/>
              <a:buNone/>
            </a:pPr>
            <a:r>
              <a:rPr lang="en-US"/>
              <a:t>LLM API calls directly with code</a:t>
            </a:r>
            <a:endParaRPr/>
          </a:p>
        </p:txBody>
      </p:sp>
      <p:cxnSp>
        <p:nvCxnSpPr>
          <p:cNvPr id="181" name="Google Shape;181;g3e9ee578634_0_161"/>
          <p:cNvCxnSpPr/>
          <p:nvPr/>
        </p:nvCxnSpPr>
        <p:spPr>
          <a:xfrm>
            <a:off x="359564" y="485653"/>
            <a:ext cx="558300" cy="0"/>
          </a:xfrm>
          <a:prstGeom prst="straightConnector1">
            <a:avLst/>
          </a:prstGeom>
          <a:noFill/>
          <a:ln cap="flat" cmpd="sng" w="38100">
            <a:solidFill>
              <a:srgbClr val="57A7B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82" name="Google Shape;182;g3e9ee578634_0_161" title="CleanShot 2026-05-25 at 00.07.36@2x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5500" y="291550"/>
            <a:ext cx="4449890" cy="4353048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e9ee578634_0_161"/>
          <p:cNvSpPr txBox="1"/>
          <p:nvPr>
            <p:ph idx="4294967295" type="title"/>
          </p:nvPr>
        </p:nvSpPr>
        <p:spPr>
          <a:xfrm>
            <a:off x="359575" y="693675"/>
            <a:ext cx="39699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40349"/>
              <a:buNone/>
            </a:pPr>
            <a:r>
              <a:t/>
            </a:r>
            <a:endParaRPr b="0" sz="19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40349"/>
              <a:buNone/>
            </a:pPr>
            <a:r>
              <a:rPr b="0" lang="en-US" sz="1900"/>
              <a:t>• NOTE: Requires you to get your own OpenAI API key</a:t>
            </a:r>
            <a:endParaRPr b="0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0349"/>
              <a:buFont typeface="Arial"/>
              <a:buNone/>
            </a:pPr>
            <a:r>
              <a:rPr b="0" lang="en-US" sz="1900"/>
              <a:t>• In R, equivalent workflow can be built with the </a:t>
            </a:r>
            <a:r>
              <a:rPr lang="en-US" sz="1900"/>
              <a:t>ellmer</a:t>
            </a:r>
            <a:r>
              <a:rPr b="0" lang="en-US" sz="1900"/>
              <a:t> library</a:t>
            </a:r>
            <a:endParaRPr b="0" sz="1900"/>
          </a:p>
        </p:txBody>
      </p:sp>
      <p:sp>
        <p:nvSpPr>
          <p:cNvPr id="184" name="Google Shape;184;g3e9ee578634_0_161"/>
          <p:cNvSpPr txBox="1"/>
          <p:nvPr/>
        </p:nvSpPr>
        <p:spPr>
          <a:xfrm>
            <a:off x="359575" y="4693225"/>
            <a:ext cx="88191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None/>
            </a:pPr>
            <a:r>
              <a:rPr lang="en-US" u="sng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thegraphcourses.org/courses/ai-llm-automations-with-python/topics/using-the-openai-llm-api-with-python/</a:t>
            </a:r>
            <a:endParaRPr>
              <a:solidFill>
                <a:srgbClr val="20293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9" name="Google Shape;189;g35caa9fba86_0_2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2759107"/>
            <a:ext cx="336649" cy="336649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g35caa9fba86_0_227"/>
          <p:cNvSpPr/>
          <p:nvPr/>
        </p:nvSpPr>
        <p:spPr>
          <a:xfrm>
            <a:off x="391440" y="1105175"/>
            <a:ext cx="37029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02934"/>
              </a:buClr>
              <a:buSzPts val="1300"/>
              <a:buFont typeface="Nunito Sans"/>
              <a:buNone/>
            </a:pPr>
            <a:r>
              <a:rPr b="1" i="0" lang="en-US" sz="1500" u="none" cap="none" strike="noStrike">
                <a:solidFill>
                  <a:srgbClr val="202934"/>
                </a:solidFill>
                <a:latin typeface="Nunito Sans"/>
                <a:ea typeface="Nunito Sans"/>
                <a:cs typeface="Nunito Sans"/>
                <a:sym typeface="Nunito Sans"/>
              </a:rPr>
              <a:t>Model inaccuracy and hallucinations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5caa9fba86_0_227"/>
          <p:cNvSpPr/>
          <p:nvPr/>
        </p:nvSpPr>
        <p:spPr>
          <a:xfrm>
            <a:off x="391400" y="1508050"/>
            <a:ext cx="38349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02934"/>
              </a:buClr>
              <a:buSzPts val="1000"/>
              <a:buFont typeface="Nunito Sans"/>
              <a:buNone/>
            </a:pPr>
            <a:r>
              <a:rPr b="1" i="0" lang="en-US" sz="1300" u="none" cap="none" strike="noStrike">
                <a:solidFill>
                  <a:srgbClr val="202934"/>
                </a:solidFill>
                <a:latin typeface="Nunito Sans"/>
                <a:ea typeface="Nunito Sans"/>
                <a:cs typeface="Nunito Sans"/>
                <a:sym typeface="Nunito Sans"/>
              </a:rPr>
              <a:t>MITIGATION: </a:t>
            </a:r>
            <a:r>
              <a:rPr b="0" i="0" lang="en-US" sz="1300" u="none" cap="none" strike="noStrike">
                <a:solidFill>
                  <a:srgbClr val="202934"/>
                </a:solidFill>
                <a:latin typeface="Nunito Sans"/>
                <a:ea typeface="Nunito Sans"/>
                <a:cs typeface="Nunito Sans"/>
                <a:sym typeface="Nunito Sans"/>
              </a:rPr>
              <a:t>Click the citations and check a sample by hand. Test multiple models</a:t>
            </a:r>
            <a:endParaRPr b="0" i="0" sz="1300" u="none" cap="none" strike="noStrike">
              <a:solidFill>
                <a:srgbClr val="202934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92" name="Google Shape;192;g35caa9fba86_0_227"/>
          <p:cNvSpPr/>
          <p:nvPr/>
        </p:nvSpPr>
        <p:spPr>
          <a:xfrm>
            <a:off x="4572000" y="1181375"/>
            <a:ext cx="45720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02934"/>
              </a:buClr>
              <a:buSzPts val="1300"/>
              <a:buFont typeface="Nunito Sans"/>
              <a:buNone/>
            </a:pPr>
            <a:r>
              <a:rPr b="1" i="0" lang="en-US" sz="1500" u="none" cap="none" strike="noStrike">
                <a:solidFill>
                  <a:srgbClr val="202934"/>
                </a:solidFill>
                <a:latin typeface="Nunito Sans"/>
                <a:ea typeface="Nunito Sans"/>
                <a:cs typeface="Nunito Sans"/>
                <a:sym typeface="Nunito Sans"/>
              </a:rPr>
              <a:t>Reproducibility limitation. Non-determinism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5caa9fba86_0_227"/>
          <p:cNvSpPr/>
          <p:nvPr/>
        </p:nvSpPr>
        <p:spPr>
          <a:xfrm>
            <a:off x="4572000" y="1543650"/>
            <a:ext cx="42744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02934"/>
              </a:buClr>
              <a:buSzPts val="1000"/>
              <a:buFont typeface="Nunito Sans"/>
              <a:buNone/>
            </a:pPr>
            <a:r>
              <a:rPr b="1" i="0" lang="en-US" sz="1400" u="none" cap="none" strike="noStrike">
                <a:solidFill>
                  <a:srgbClr val="202934"/>
                </a:solidFill>
                <a:latin typeface="Nunito Sans"/>
                <a:ea typeface="Nunito Sans"/>
                <a:cs typeface="Nunito Sans"/>
                <a:sym typeface="Nunito Sans"/>
              </a:rPr>
              <a:t>MITIGATION: </a:t>
            </a:r>
            <a:r>
              <a:rPr b="0" i="0" lang="en-US" sz="1400" u="none" cap="none" strike="noStrike">
                <a:solidFill>
                  <a:srgbClr val="202934"/>
                </a:solidFill>
                <a:latin typeface="Nunito Sans"/>
                <a:ea typeface="Nunito Sans"/>
                <a:cs typeface="Nunito Sans"/>
                <a:sym typeface="Nunito Sans"/>
              </a:rPr>
              <a:t>Rerun multiple times to ensure stability</a:t>
            </a:r>
            <a:endParaRPr b="0" i="0" sz="1400" u="none" cap="none" strike="noStrike">
              <a:solidFill>
                <a:srgbClr val="202934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descr="preencoded.png" id="194" name="Google Shape;194;g35caa9fba86_0_2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1453" y="2682908"/>
            <a:ext cx="336649" cy="336649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g35caa9fba86_0_227"/>
          <p:cNvSpPr/>
          <p:nvPr/>
        </p:nvSpPr>
        <p:spPr>
          <a:xfrm>
            <a:off x="442391" y="3172173"/>
            <a:ext cx="1683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02934"/>
              </a:buClr>
              <a:buSzPts val="1300"/>
              <a:buFont typeface="Nunito Sans"/>
              <a:buNone/>
            </a:pPr>
            <a:r>
              <a:rPr b="1" i="0" lang="en-US" sz="1700" u="none" cap="none" strike="noStrike">
                <a:solidFill>
                  <a:srgbClr val="202934"/>
                </a:solidFill>
                <a:latin typeface="Nunito Sans"/>
                <a:ea typeface="Nunito Sans"/>
                <a:cs typeface="Nunito Sans"/>
                <a:sym typeface="Nunito Sans"/>
              </a:rPr>
              <a:t>API Costs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5caa9fba86_0_227"/>
          <p:cNvSpPr/>
          <p:nvPr/>
        </p:nvSpPr>
        <p:spPr>
          <a:xfrm>
            <a:off x="442400" y="3535100"/>
            <a:ext cx="3526800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02934"/>
              </a:buClr>
              <a:buSzPts val="1000"/>
              <a:buFont typeface="Nunito Sans"/>
              <a:buNone/>
            </a:pPr>
            <a:r>
              <a:rPr b="1" i="0" lang="en-US" sz="1300" u="none" cap="none" strike="noStrike">
                <a:solidFill>
                  <a:srgbClr val="202934"/>
                </a:solidFill>
                <a:latin typeface="Nunito Sans"/>
                <a:ea typeface="Nunito Sans"/>
                <a:cs typeface="Nunito Sans"/>
                <a:sym typeface="Nunito Sans"/>
              </a:rPr>
              <a:t>MITIGATIONS: </a:t>
            </a:r>
            <a:r>
              <a:rPr b="0" i="0" lang="en-US" sz="1300" u="none" cap="none" strike="noStrike">
                <a:solidFill>
                  <a:srgbClr val="202934"/>
                </a:solidFill>
                <a:latin typeface="Nunito Sans"/>
                <a:ea typeface="Nunito Sans"/>
                <a:cs typeface="Nunito Sans"/>
                <a:sym typeface="Nunito Sans"/>
              </a:rPr>
              <a:t>Try free tiers first. </a:t>
            </a:r>
            <a:r>
              <a:rPr lang="en-US" sz="1300">
                <a:solidFill>
                  <a:srgbClr val="202934"/>
                </a:solidFill>
                <a:latin typeface="Nunito Sans"/>
                <a:ea typeface="Nunito Sans"/>
                <a:cs typeface="Nunito Sans"/>
                <a:sym typeface="Nunito Sans"/>
              </a:rPr>
              <a:t>Today: Gemini Notebook's free plan handles 14 PDFs; the figure needs Google AI Pro</a:t>
            </a:r>
            <a:endParaRPr b="0" i="0" sz="1300" u="none" cap="none" strike="noStrike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descr="preencoded.png" id="197" name="Google Shape;197;g35caa9fba86_0_227"/>
          <p:cNvPicPr preferRelativeResize="0"/>
          <p:nvPr/>
        </p:nvPicPr>
        <p:blipFill rotWithShape="1">
          <a:blip r:embed="rId5">
            <a:alphaModFix/>
          </a:blip>
          <a:srcRect b="0" l="0" r="10" t="37531"/>
          <a:stretch/>
        </p:blipFill>
        <p:spPr>
          <a:xfrm>
            <a:off x="391450" y="840578"/>
            <a:ext cx="336625" cy="21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35caa9fba86_0_227"/>
          <p:cNvSpPr/>
          <p:nvPr/>
        </p:nvSpPr>
        <p:spPr>
          <a:xfrm>
            <a:off x="4674017" y="3214175"/>
            <a:ext cx="39405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02934"/>
              </a:buClr>
              <a:buSzPts val="1300"/>
              <a:buFont typeface="Nunito Sans"/>
              <a:buNone/>
            </a:pPr>
            <a:r>
              <a:rPr b="1" i="0" lang="en-US" sz="1600" u="none" cap="none" strike="noStrike">
                <a:solidFill>
                  <a:srgbClr val="202934"/>
                </a:solidFill>
                <a:latin typeface="Nunito Sans"/>
                <a:ea typeface="Nunito Sans"/>
                <a:cs typeface="Nunito Sans"/>
                <a:sym typeface="Nunito Sans"/>
              </a:rPr>
              <a:t>Privacy Issues. Sensitive Data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5caa9fba86_0_227"/>
          <p:cNvSpPr/>
          <p:nvPr/>
        </p:nvSpPr>
        <p:spPr>
          <a:xfrm>
            <a:off x="4674025" y="3619100"/>
            <a:ext cx="427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02934"/>
              </a:buClr>
              <a:buSzPts val="1000"/>
              <a:buFont typeface="Nunito Sans"/>
              <a:buNone/>
            </a:pPr>
            <a:r>
              <a:rPr b="1" i="0" lang="en-US" sz="1300" u="none" cap="none" strike="noStrike">
                <a:solidFill>
                  <a:srgbClr val="202934"/>
                </a:solidFill>
                <a:latin typeface="Nunito Sans"/>
                <a:ea typeface="Nunito Sans"/>
                <a:cs typeface="Nunito Sans"/>
                <a:sym typeface="Nunito Sans"/>
              </a:rPr>
              <a:t>MITIGATION: </a:t>
            </a:r>
            <a:r>
              <a:rPr b="0" i="0" lang="en-US" sz="1300" u="none" cap="none" strike="noStrike">
                <a:solidFill>
                  <a:srgbClr val="202934"/>
                </a:solidFill>
                <a:latin typeface="Nunito Sans"/>
                <a:ea typeface="Nunito Sans"/>
                <a:cs typeface="Nunito Sans"/>
                <a:sym typeface="Nunito Sans"/>
              </a:rPr>
              <a:t>Only upload public or permitted documents. Local models. Privacy agreements.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0" name="Google Shape;200;g35caa9fba86_0_2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9" y="665182"/>
            <a:ext cx="336649" cy="336649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g35caa9fba86_0_227"/>
          <p:cNvSpPr txBox="1"/>
          <p:nvPr>
            <p:ph idx="4294967295" type="title"/>
          </p:nvPr>
        </p:nvSpPr>
        <p:spPr>
          <a:xfrm>
            <a:off x="274999" y="125650"/>
            <a:ext cx="86004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0"/>
              <a:buNone/>
            </a:pPr>
            <a:r>
              <a:rPr lang="en-US"/>
              <a:t>Limitations of LLM-Powered Text Analysis</a:t>
            </a:r>
            <a:endParaRPr/>
          </a:p>
        </p:txBody>
      </p:sp>
      <p:cxnSp>
        <p:nvCxnSpPr>
          <p:cNvPr id="202" name="Google Shape;202;g35caa9fba86_0_227"/>
          <p:cNvCxnSpPr/>
          <p:nvPr/>
        </p:nvCxnSpPr>
        <p:spPr>
          <a:xfrm>
            <a:off x="359564" y="485653"/>
            <a:ext cx="558300" cy="0"/>
          </a:xfrm>
          <a:prstGeom prst="straightConnector1">
            <a:avLst/>
          </a:prstGeom>
          <a:noFill/>
          <a:ln cap="flat" cmpd="sng" w="38100">
            <a:solidFill>
              <a:srgbClr val="57A7B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9d39d9a122_0_60"/>
          <p:cNvSpPr txBox="1"/>
          <p:nvPr>
            <p:ph idx="1" type="body"/>
          </p:nvPr>
        </p:nvSpPr>
        <p:spPr>
          <a:xfrm>
            <a:off x="201700" y="373475"/>
            <a:ext cx="8572500" cy="22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rPr b="1" lang="en-US" sz="3400"/>
              <a:t>Two</a:t>
            </a:r>
            <a:r>
              <a:rPr b="1" lang="en-US" sz="3400"/>
              <a:t> more applications of LLMs in a loop</a:t>
            </a:r>
            <a:endParaRPr b="1" sz="3400"/>
          </a:p>
          <a:p>
            <a:pPr indent="0" lvl="0" marL="457200" rtl="0" algn="ctr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rPr lang="en-US" sz="3000"/>
              <a:t>•Literature Review</a:t>
            </a:r>
            <a:endParaRPr sz="3000"/>
          </a:p>
          <a:p>
            <a:pPr indent="0" lvl="0" marL="457200" rtl="0" algn="ctr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rPr lang="en-US" sz="3000"/>
              <a:t>•Qualitative Data Analysis</a:t>
            </a:r>
            <a:endParaRPr sz="3000"/>
          </a:p>
        </p:txBody>
      </p:sp>
      <p:pic>
        <p:nvPicPr>
          <p:cNvPr descr="Graphical user interface&#10;&#10;Description automatically generated with low confidence" id="208" name="Google Shape;208;g39d39d9a122_0_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6112" y="2879444"/>
            <a:ext cx="3027873" cy="202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5caa9fba86_0_129"/>
          <p:cNvSpPr txBox="1"/>
          <p:nvPr>
            <p:ph type="title"/>
          </p:nvPr>
        </p:nvSpPr>
        <p:spPr>
          <a:xfrm>
            <a:off x="274999" y="125650"/>
            <a:ext cx="8211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0"/>
              <a:buNone/>
            </a:pPr>
            <a:r>
              <a:rPr lang="en-US"/>
              <a:t>From spreadsheets → Academic Literature Review?</a:t>
            </a:r>
            <a:endParaRPr/>
          </a:p>
        </p:txBody>
      </p:sp>
      <p:cxnSp>
        <p:nvCxnSpPr>
          <p:cNvPr id="215" name="Google Shape;215;g35caa9fba86_0_129"/>
          <p:cNvCxnSpPr/>
          <p:nvPr/>
        </p:nvCxnSpPr>
        <p:spPr>
          <a:xfrm>
            <a:off x="359564" y="485653"/>
            <a:ext cx="558300" cy="0"/>
          </a:xfrm>
          <a:prstGeom prst="straightConnector1">
            <a:avLst/>
          </a:prstGeom>
          <a:noFill/>
          <a:ln cap="flat" cmpd="sng" w="38100">
            <a:solidFill>
              <a:srgbClr val="57A7B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16" name="Google Shape;216;g35caa9fba86_0_129" title="ChatGPT Image May 23, 2025, 03_33_31 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5975" y="640725"/>
            <a:ext cx="2812124" cy="2812124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g35caa9fba86_0_129"/>
          <p:cNvSpPr/>
          <p:nvPr/>
        </p:nvSpPr>
        <p:spPr>
          <a:xfrm>
            <a:off x="917875" y="4000000"/>
            <a:ext cx="75687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417D86"/>
              </a:buClr>
              <a:buSzPts val="2800"/>
              <a:buFont typeface="Nunito Sans"/>
              <a:buNone/>
            </a:pPr>
            <a:r>
              <a:rPr b="1" i="0" lang="en-US" sz="1600" u="none" cap="none" strike="noStrike">
                <a:solidFill>
                  <a:srgbClr val="417D86"/>
                </a:solidFill>
                <a:latin typeface="Nunito Sans"/>
                <a:ea typeface="Nunito Sans"/>
                <a:cs typeface="Nunito Sans"/>
                <a:sym typeface="Nunito Sans"/>
              </a:rPr>
              <a:t>IDEA: Could we use the API in Google Sheets setup for academic paper review?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5caa9fba86_0_129"/>
          <p:cNvSpPr txBox="1"/>
          <p:nvPr/>
        </p:nvSpPr>
        <p:spPr>
          <a:xfrm>
            <a:off x="1967875" y="4294000"/>
            <a:ext cx="5462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 </a:t>
            </a: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Possible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But best to use a dedicated tool. </a:t>
            </a: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e.g. Gemini Notebook (today), Elicit</a:t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5caa9fba86_0_144"/>
          <p:cNvSpPr txBox="1"/>
          <p:nvPr>
            <p:ph idx="4294967295" type="title"/>
          </p:nvPr>
        </p:nvSpPr>
        <p:spPr>
          <a:xfrm>
            <a:off x="275004" y="125650"/>
            <a:ext cx="6840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0"/>
              <a:buNone/>
            </a:pPr>
            <a:r>
              <a:rPr lang="en-US"/>
              <a:t>Demo of Elicit: LLM-Powered Literature Review</a:t>
            </a:r>
            <a:endParaRPr/>
          </a:p>
        </p:txBody>
      </p:sp>
      <p:cxnSp>
        <p:nvCxnSpPr>
          <p:cNvPr id="224" name="Google Shape;224;g35caa9fba86_0_144"/>
          <p:cNvCxnSpPr/>
          <p:nvPr/>
        </p:nvCxnSpPr>
        <p:spPr>
          <a:xfrm>
            <a:off x="359564" y="485653"/>
            <a:ext cx="558300" cy="0"/>
          </a:xfrm>
          <a:prstGeom prst="straightConnector1">
            <a:avLst/>
          </a:prstGeom>
          <a:noFill/>
          <a:ln cap="flat" cmpd="sng" w="38100">
            <a:solidFill>
              <a:srgbClr val="57A7B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25" name="Google Shape;225;g35caa9fba86_0_144" title="CleanShot 2025-05-23 at 15.49.20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9575" y="638050"/>
            <a:ext cx="5323018" cy="4060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g35caa9fba86_0_144"/>
          <p:cNvSpPr/>
          <p:nvPr/>
        </p:nvSpPr>
        <p:spPr>
          <a:xfrm>
            <a:off x="1447925" y="3810298"/>
            <a:ext cx="3721500" cy="261300"/>
          </a:xfrm>
          <a:prstGeom prst="rect">
            <a:avLst/>
          </a:prstGeom>
          <a:noFill/>
          <a:ln cap="flat" cmpd="sng" w="355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75" lIns="85275" spcFirstLastPara="1" rIns="85275" wrap="square" tIns="85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6"/>
              <a:buFont typeface="Arial"/>
              <a:buNone/>
            </a:pPr>
            <a:r>
              <a:t/>
            </a:r>
            <a:endParaRPr b="0" i="0" sz="130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5caa9fba86_0_144"/>
          <p:cNvSpPr txBox="1"/>
          <p:nvPr/>
        </p:nvSpPr>
        <p:spPr>
          <a:xfrm>
            <a:off x="5768650" y="585475"/>
            <a:ext cx="3229500" cy="27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Are other papers reporting similarly large seroprev? What methods did they use?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Before: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Read through papers manually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Now: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search “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SARS-CoV-2 seroprevalence in Cameroon” on Elicit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(Find Papers)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let the AI read through each.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9d39d9a122_0_10"/>
          <p:cNvSpPr txBox="1"/>
          <p:nvPr>
            <p:ph idx="4294967295" type="title"/>
          </p:nvPr>
        </p:nvSpPr>
        <p:spPr>
          <a:xfrm>
            <a:off x="275004" y="125650"/>
            <a:ext cx="6840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0"/>
              <a:buNone/>
            </a:pPr>
            <a:r>
              <a:rPr lang="en-US"/>
              <a:t>Other features of Elicit</a:t>
            </a:r>
            <a:endParaRPr/>
          </a:p>
        </p:txBody>
      </p:sp>
      <p:cxnSp>
        <p:nvCxnSpPr>
          <p:cNvPr id="233" name="Google Shape;233;g39d39d9a122_0_10"/>
          <p:cNvCxnSpPr/>
          <p:nvPr/>
        </p:nvCxnSpPr>
        <p:spPr>
          <a:xfrm>
            <a:off x="359564" y="485653"/>
            <a:ext cx="558300" cy="0"/>
          </a:xfrm>
          <a:prstGeom prst="straightConnector1">
            <a:avLst/>
          </a:prstGeom>
          <a:noFill/>
          <a:ln cap="flat" cmpd="sng" w="38100">
            <a:solidFill>
              <a:srgbClr val="57A7B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34" name="Google Shape;234;g39d39d9a122_0_10" title="CleanShot 2025-10-26 at 15.49.07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975" y="574025"/>
            <a:ext cx="4280842" cy="4353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g39d39d9a122_0_10" title="CleanShot 2025-10-26 at 15.46.53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2217" y="790125"/>
            <a:ext cx="4283356" cy="36996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e9ee578634_0_147"/>
          <p:cNvSpPr txBox="1"/>
          <p:nvPr>
            <p:ph idx="4294967295" type="title"/>
          </p:nvPr>
        </p:nvSpPr>
        <p:spPr>
          <a:xfrm>
            <a:off x="275004" y="125650"/>
            <a:ext cx="6840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0"/>
              <a:buNone/>
            </a:pPr>
            <a:r>
              <a:rPr lang="en-US"/>
              <a:t>Full Walkthroughs</a:t>
            </a:r>
            <a:endParaRPr/>
          </a:p>
        </p:txBody>
      </p:sp>
      <p:cxnSp>
        <p:nvCxnSpPr>
          <p:cNvPr id="241" name="Google Shape;241;g3e9ee578634_0_147"/>
          <p:cNvCxnSpPr/>
          <p:nvPr/>
        </p:nvCxnSpPr>
        <p:spPr>
          <a:xfrm>
            <a:off x="359564" y="485653"/>
            <a:ext cx="558300" cy="0"/>
          </a:xfrm>
          <a:prstGeom prst="straightConnector1">
            <a:avLst/>
          </a:prstGeom>
          <a:noFill/>
          <a:ln cap="flat" cmpd="sng" w="38100">
            <a:solidFill>
              <a:srgbClr val="57A7B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42" name="Google Shape;242;g3e9ee578634_0_147" title="CleanShot 2026-05-24 at 19.25.34@2x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350" y="834600"/>
            <a:ext cx="3825277" cy="284652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g3e9ee578634_0_147"/>
          <p:cNvSpPr txBox="1"/>
          <p:nvPr/>
        </p:nvSpPr>
        <p:spPr>
          <a:xfrm>
            <a:off x="5116275" y="4153900"/>
            <a:ext cx="3650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https://www.youtube.com/watch?v=Ki2OBrW1HFU</a:t>
            </a:r>
            <a:endParaRPr sz="1100"/>
          </a:p>
        </p:txBody>
      </p:sp>
      <p:sp>
        <p:nvSpPr>
          <p:cNvPr id="244" name="Google Shape;244;g3e9ee578634_0_147"/>
          <p:cNvSpPr txBox="1"/>
          <p:nvPr/>
        </p:nvSpPr>
        <p:spPr>
          <a:xfrm>
            <a:off x="765525" y="4153900"/>
            <a:ext cx="3650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https://www.youtube.com/watch?v=bXN9B8_Pfl8</a:t>
            </a:r>
            <a:endParaRPr sz="1100"/>
          </a:p>
        </p:txBody>
      </p:sp>
      <p:pic>
        <p:nvPicPr>
          <p:cNvPr id="245" name="Google Shape;245;g3e9ee578634_0_147" title="CleanShot 2026-05-25 at 00.04.03@2x.jpg"/>
          <p:cNvPicPr preferRelativeResize="0"/>
          <p:nvPr/>
        </p:nvPicPr>
        <p:blipFill rotWithShape="1">
          <a:blip r:embed="rId4">
            <a:alphaModFix/>
          </a:blip>
          <a:srcRect b="9527" l="0" r="0" t="0"/>
          <a:stretch/>
        </p:blipFill>
        <p:spPr>
          <a:xfrm>
            <a:off x="4485400" y="736325"/>
            <a:ext cx="4382999" cy="30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9d39d9a122_0_19"/>
          <p:cNvSpPr txBox="1"/>
          <p:nvPr>
            <p:ph type="title"/>
          </p:nvPr>
        </p:nvSpPr>
        <p:spPr>
          <a:xfrm>
            <a:off x="274999" y="125650"/>
            <a:ext cx="8211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0"/>
              <a:buNone/>
            </a:pPr>
            <a:r>
              <a:rPr lang="en-US"/>
              <a:t>From spreadsheets → Qualitative Data Analysis?</a:t>
            </a:r>
            <a:endParaRPr/>
          </a:p>
        </p:txBody>
      </p:sp>
      <p:cxnSp>
        <p:nvCxnSpPr>
          <p:cNvPr id="252" name="Google Shape;252;g39d39d9a122_0_19"/>
          <p:cNvCxnSpPr/>
          <p:nvPr/>
        </p:nvCxnSpPr>
        <p:spPr>
          <a:xfrm>
            <a:off x="359564" y="485653"/>
            <a:ext cx="558300" cy="0"/>
          </a:xfrm>
          <a:prstGeom prst="straightConnector1">
            <a:avLst/>
          </a:prstGeom>
          <a:noFill/>
          <a:ln cap="flat" cmpd="sng" w="38100">
            <a:solidFill>
              <a:srgbClr val="57A7B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53" name="Google Shape;253;g39d39d9a122_0_19" title="ChatGPT Image May 23, 2025, 03_33_31 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5975" y="640725"/>
            <a:ext cx="2812124" cy="2812124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g39d39d9a122_0_19"/>
          <p:cNvSpPr/>
          <p:nvPr/>
        </p:nvSpPr>
        <p:spPr>
          <a:xfrm>
            <a:off x="522500" y="3987100"/>
            <a:ext cx="79641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417D86"/>
              </a:buClr>
              <a:buSzPts val="2800"/>
              <a:buFont typeface="Nunito Sans"/>
              <a:buNone/>
            </a:pPr>
            <a:r>
              <a:rPr b="1" i="0" lang="en-US" sz="1600" u="none" cap="none" strike="noStrike">
                <a:solidFill>
                  <a:srgbClr val="417D86"/>
                </a:solidFill>
                <a:latin typeface="Nunito Sans"/>
                <a:ea typeface="Nunito Sans"/>
                <a:cs typeface="Nunito Sans"/>
                <a:sym typeface="Nunito Sans"/>
              </a:rPr>
              <a:t>IDEA: Could we use the API in Google Sheets setup for qualitative data analysis?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39d39d9a122_0_19"/>
          <p:cNvSpPr txBox="1"/>
          <p:nvPr/>
        </p:nvSpPr>
        <p:spPr>
          <a:xfrm>
            <a:off x="1527650" y="4294000"/>
            <a:ext cx="6537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 </a:t>
            </a: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Possible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But best to use a dedicated tool. </a:t>
            </a: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e.g. Atlas TI, NVIVO</a:t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9d39d9a122_0_30"/>
          <p:cNvSpPr txBox="1"/>
          <p:nvPr>
            <p:ph type="title"/>
          </p:nvPr>
        </p:nvSpPr>
        <p:spPr>
          <a:xfrm>
            <a:off x="274999" y="125650"/>
            <a:ext cx="8211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0"/>
              <a:buNone/>
            </a:pPr>
            <a:r>
              <a:rPr lang="en-US"/>
              <a:t>Which parts of qualitative analysis are most amenable to AI help?</a:t>
            </a:r>
            <a:endParaRPr/>
          </a:p>
        </p:txBody>
      </p:sp>
      <p:cxnSp>
        <p:nvCxnSpPr>
          <p:cNvPr id="262" name="Google Shape;262;g39d39d9a122_0_30"/>
          <p:cNvCxnSpPr/>
          <p:nvPr/>
        </p:nvCxnSpPr>
        <p:spPr>
          <a:xfrm>
            <a:off x="359564" y="485653"/>
            <a:ext cx="558300" cy="0"/>
          </a:xfrm>
          <a:prstGeom prst="straightConnector1">
            <a:avLst/>
          </a:prstGeom>
          <a:noFill/>
          <a:ln cap="flat" cmpd="sng" w="38100">
            <a:solidFill>
              <a:srgbClr val="57A7B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63" name="Google Shape;263;g39d39d9a122_0_30" title="CleanShot 2025-10-26 at 16.01.19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7025" y="557325"/>
            <a:ext cx="6397284" cy="4353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9d39d9a122_0_40"/>
          <p:cNvSpPr txBox="1"/>
          <p:nvPr>
            <p:ph type="title"/>
          </p:nvPr>
        </p:nvSpPr>
        <p:spPr>
          <a:xfrm>
            <a:off x="274999" y="125650"/>
            <a:ext cx="8211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0"/>
              <a:buNone/>
            </a:pPr>
            <a:r>
              <a:rPr lang="en-US"/>
              <a:t>AI Transcription &amp; Translation</a:t>
            </a:r>
            <a:endParaRPr/>
          </a:p>
        </p:txBody>
      </p:sp>
      <p:cxnSp>
        <p:nvCxnSpPr>
          <p:cNvPr id="270" name="Google Shape;270;g39d39d9a122_0_40"/>
          <p:cNvCxnSpPr/>
          <p:nvPr/>
        </p:nvCxnSpPr>
        <p:spPr>
          <a:xfrm>
            <a:off x="359564" y="485653"/>
            <a:ext cx="558300" cy="0"/>
          </a:xfrm>
          <a:prstGeom prst="straightConnector1">
            <a:avLst/>
          </a:prstGeom>
          <a:noFill/>
          <a:ln cap="flat" cmpd="sng" w="38100">
            <a:solidFill>
              <a:srgbClr val="57A7B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71" name="Google Shape;271;g39d39d9a122_0_40" title="CleanShot 2025-10-26 at 15.07.47@2x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9650" y="485650"/>
            <a:ext cx="4504580" cy="435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9d39d9a122_0_48"/>
          <p:cNvSpPr txBox="1"/>
          <p:nvPr>
            <p:ph type="title"/>
          </p:nvPr>
        </p:nvSpPr>
        <p:spPr>
          <a:xfrm>
            <a:off x="274999" y="125650"/>
            <a:ext cx="8211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0"/>
              <a:buNone/>
            </a:pPr>
            <a:r>
              <a:rPr lang="en-US"/>
              <a:t>Demo of thematic Coding in Atlas TI</a:t>
            </a:r>
            <a:endParaRPr/>
          </a:p>
        </p:txBody>
      </p:sp>
      <p:cxnSp>
        <p:nvCxnSpPr>
          <p:cNvPr id="278" name="Google Shape;278;g39d39d9a122_0_48"/>
          <p:cNvCxnSpPr/>
          <p:nvPr/>
        </p:nvCxnSpPr>
        <p:spPr>
          <a:xfrm>
            <a:off x="359564" y="485653"/>
            <a:ext cx="558300" cy="0"/>
          </a:xfrm>
          <a:prstGeom prst="straightConnector1">
            <a:avLst/>
          </a:prstGeom>
          <a:noFill/>
          <a:ln cap="flat" cmpd="sng" w="38100">
            <a:solidFill>
              <a:srgbClr val="57A7B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" name="Google Shape;279;g39d39d9a122_0_48"/>
          <p:cNvSpPr txBox="1"/>
          <p:nvPr/>
        </p:nvSpPr>
        <p:spPr>
          <a:xfrm>
            <a:off x="505875" y="604625"/>
            <a:ext cx="532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Start at 1:50: https://www.youtube.com/watch?v=QJVC1h2qzv4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0" name="Google Shape;280;g39d39d9a122_0_48" title="CleanShot 2025-10-26 at 16.07.29@2x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1413" y="1123800"/>
            <a:ext cx="7157263" cy="3714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5caa9fba86_0_248"/>
          <p:cNvSpPr txBox="1"/>
          <p:nvPr>
            <p:ph idx="1" type="body"/>
          </p:nvPr>
        </p:nvSpPr>
        <p:spPr>
          <a:xfrm>
            <a:off x="0" y="460250"/>
            <a:ext cx="9144000" cy="17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Discussion: 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you have any ideas from your work, research or personal life for applying LLMs in a loop? (massively parallel LLM calls)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might you build it?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g35caa9fba86_0_248"/>
          <p:cNvPicPr preferRelativeResize="0"/>
          <p:nvPr/>
        </p:nvPicPr>
        <p:blipFill rotWithShape="1">
          <a:blip r:embed="rId3">
            <a:alphaModFix/>
          </a:blip>
          <a:srcRect b="0" l="0" r="0" t="23130"/>
          <a:stretch/>
        </p:blipFill>
        <p:spPr>
          <a:xfrm>
            <a:off x="2624775" y="2653200"/>
            <a:ext cx="4120926" cy="316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854db5e084_0_0"/>
          <p:cNvSpPr txBox="1"/>
          <p:nvPr>
            <p:ph idx="4294967295" type="title"/>
          </p:nvPr>
        </p:nvSpPr>
        <p:spPr>
          <a:xfrm>
            <a:off x="275004" y="125650"/>
            <a:ext cx="6840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0"/>
              <a:buNone/>
            </a:pPr>
            <a:r>
              <a:rPr lang="en-US"/>
              <a:t>Halfway through core content</a:t>
            </a:r>
            <a:endParaRPr/>
          </a:p>
        </p:txBody>
      </p:sp>
      <p:cxnSp>
        <p:nvCxnSpPr>
          <p:cNvPr id="292" name="Google Shape;292;g3854db5e084_0_0"/>
          <p:cNvCxnSpPr/>
          <p:nvPr/>
        </p:nvCxnSpPr>
        <p:spPr>
          <a:xfrm>
            <a:off x="359564" y="485653"/>
            <a:ext cx="558300" cy="0"/>
          </a:xfrm>
          <a:prstGeom prst="straightConnector1">
            <a:avLst/>
          </a:prstGeom>
          <a:noFill/>
          <a:ln cap="flat" cmpd="sng" w="38100">
            <a:solidFill>
              <a:srgbClr val="57A7B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93" name="Google Shape;293;g3854db5e084_0_0" title="CleanShot 2025-08-31 at 19.26.20@2x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256049"/>
            <a:ext cx="4207299" cy="2830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g3854db5e084_0_0" title="CleanShot 2025-08-31 at 19.26.28@2x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8100" y="1292175"/>
            <a:ext cx="4207299" cy="2828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5" name="Google Shape;295;g3854db5e084_0_0"/>
          <p:cNvCxnSpPr/>
          <p:nvPr/>
        </p:nvCxnSpPr>
        <p:spPr>
          <a:xfrm>
            <a:off x="4527089" y="1065690"/>
            <a:ext cx="7800" cy="3563400"/>
          </a:xfrm>
          <a:prstGeom prst="straightConnector1">
            <a:avLst/>
          </a:prstGeom>
          <a:noFill/>
          <a:ln cap="flat" cmpd="sng" w="38100">
            <a:solidFill>
              <a:srgbClr val="57A7B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" name="Google Shape;296;g3854db5e084_0_0"/>
          <p:cNvSpPr txBox="1"/>
          <p:nvPr>
            <p:ph idx="4294967295" type="title"/>
          </p:nvPr>
        </p:nvSpPr>
        <p:spPr>
          <a:xfrm>
            <a:off x="463527" y="783975"/>
            <a:ext cx="38385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en-US" sz="1460"/>
              <a:t>Focused on researchers and data analysts</a:t>
            </a:r>
            <a:endParaRPr b="0" sz="1460"/>
          </a:p>
        </p:txBody>
      </p:sp>
      <p:sp>
        <p:nvSpPr>
          <p:cNvPr id="297" name="Google Shape;297;g3854db5e084_0_0"/>
          <p:cNvSpPr txBox="1"/>
          <p:nvPr>
            <p:ph idx="4294967295" type="title"/>
          </p:nvPr>
        </p:nvSpPr>
        <p:spPr>
          <a:xfrm>
            <a:off x="5904327" y="783975"/>
            <a:ext cx="38385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en-US" sz="1460"/>
              <a:t>More broadly-directed</a:t>
            </a:r>
            <a:endParaRPr b="0" sz="146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3" name="Google Shape;303;g35caa9fba86_0_217"/>
          <p:cNvCxnSpPr/>
          <p:nvPr/>
        </p:nvCxnSpPr>
        <p:spPr>
          <a:xfrm>
            <a:off x="359564" y="485653"/>
            <a:ext cx="558300" cy="0"/>
          </a:xfrm>
          <a:prstGeom prst="straightConnector1">
            <a:avLst/>
          </a:prstGeom>
          <a:noFill/>
          <a:ln cap="flat" cmpd="sng" w="38100">
            <a:solidFill>
              <a:srgbClr val="57A7B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4" name="Google Shape;304;g35caa9fba86_0_217"/>
          <p:cNvSpPr txBox="1"/>
          <p:nvPr/>
        </p:nvSpPr>
        <p:spPr>
          <a:xfrm>
            <a:off x="266609" y="96736"/>
            <a:ext cx="6446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Remember to leave anonymous feedback</a:t>
            </a:r>
            <a:endParaRPr b="1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5" name="Google Shape;305;g35caa9fba86_0_217"/>
          <p:cNvCxnSpPr/>
          <p:nvPr/>
        </p:nvCxnSpPr>
        <p:spPr>
          <a:xfrm>
            <a:off x="359564" y="485653"/>
            <a:ext cx="558300" cy="0"/>
          </a:xfrm>
          <a:prstGeom prst="straightConnector1">
            <a:avLst/>
          </a:prstGeom>
          <a:noFill/>
          <a:ln cap="flat" cmpd="sng" w="38100">
            <a:solidFill>
              <a:srgbClr val="57A7B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06" name="Google Shape;306;g35caa9fba86_0_2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626236"/>
            <a:ext cx="8839201" cy="19311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g35caa9fba86_0_2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66975" y="2603408"/>
            <a:ext cx="5358620" cy="2281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5caa9fba86_0_207"/>
          <p:cNvSpPr txBox="1"/>
          <p:nvPr/>
        </p:nvSpPr>
        <p:spPr>
          <a:xfrm>
            <a:off x="359569" y="2306256"/>
            <a:ext cx="44601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THANK YOU SO MUCH!</a:t>
            </a:r>
            <a:endParaRPr b="1" i="0" sz="3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See you next week :)</a:t>
            </a:r>
            <a:endParaRPr b="1" i="0" sz="3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g3854c283ccb_0_6"/>
          <p:cNvGrpSpPr/>
          <p:nvPr/>
        </p:nvGrpSpPr>
        <p:grpSpPr>
          <a:xfrm>
            <a:off x="285750" y="33250"/>
            <a:ext cx="8572500" cy="571500"/>
            <a:chOff x="285750" y="33250"/>
            <a:chExt cx="8572500" cy="571500"/>
          </a:xfrm>
        </p:grpSpPr>
        <p:sp>
          <p:nvSpPr>
            <p:cNvPr id="94" name="Google Shape;94;g3854c283ccb_0_6"/>
            <p:cNvSpPr txBox="1"/>
            <p:nvPr/>
          </p:nvSpPr>
          <p:spPr>
            <a:xfrm>
              <a:off x="285750" y="33250"/>
              <a:ext cx="8572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202934"/>
                  </a:solidFill>
                  <a:latin typeface="Calibri"/>
                  <a:ea typeface="Calibri"/>
                  <a:cs typeface="Calibri"/>
                  <a:sym typeface="Calibri"/>
                </a:rPr>
                <a:t>Today: summarise a body of literature</a:t>
              </a:r>
              <a:endParaRPr b="1" sz="2000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1" name="OUR PAPERS card"/>
          <p:cNvSpPr/>
          <p:nvPr/>
        </p:nvSpPr>
        <p:spPr>
          <a:xfrm>
            <a:off x="457200" y="868680"/>
            <a:ext cx="4023360" cy="374904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D4D3D9"/>
            </a:solidFill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002" name="OUR PAPERS label"/>
          <p:cNvSpPr txBox="1"/>
          <p:nvPr/>
        </p:nvSpPr>
        <p:spPr>
          <a:xfrm>
            <a:off x="731520" y="109728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1">
                <a:solidFill>
                  <a:srgbClr val="57A7B1"/>
                </a:solidFill>
                <a:latin typeface="Calibri"/>
                <a:ea typeface="Calibri"/>
                <a:cs typeface="Calibri"/>
                <a:sym typeface="Calibri"/>
              </a:rPr>
              <a:t xml:space="preserve">OUR PAPERS</a:t>
            </a:r>
          </a:p>
        </p:txBody>
      </p:sp>
      <p:sp>
        <p:nvSpPr>
          <p:cNvPr id="1003" name="OUR PAPERS title"/>
          <p:cNvSpPr txBox="1"/>
          <p:nvPr/>
        </p:nvSpPr>
        <p:spPr>
          <a:xfrm>
            <a:off x="731520" y="1371600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000" b="1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 xml:space="preserve">Social media breaks</a:t>
            </a:r>
          </a:p>
        </p:txBody>
      </p:sp>
      <p:sp>
        <p:nvSpPr>
          <p:cNvPr id="1004" name="OUR PAPERS number"/>
          <p:cNvSpPr txBox="1"/>
          <p:nvPr/>
        </p:nvSpPr>
        <p:spPr>
          <a:xfrm>
            <a:off x="731520" y="1828800"/>
            <a:ext cx="1051560" cy="7315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4800" b="1">
                <a:solidFill>
                  <a:srgbClr val="57A7B1"/>
                </a:solidFill>
                <a:latin typeface="Calibri"/>
                <a:ea typeface="Calibri"/>
                <a:cs typeface="Calibri"/>
                <a:sym typeface="Calibri"/>
              </a:rPr>
              <a:t xml:space="preserve">14</a:t>
            </a:r>
          </a:p>
        </p:txBody>
      </p:sp>
      <p:sp>
        <p:nvSpPr>
          <p:cNvPr id="1005" name="OUR PAPERS question"/>
          <p:cNvSpPr txBox="1"/>
          <p:nvPr/>
        </p:nvSpPr>
        <p:spPr>
          <a:xfrm>
            <a:off x="1737360" y="1874520"/>
            <a:ext cx="2468880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00" b="1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 xml:space="preserve">experiments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200">
                <a:solidFill>
                  <a:srgbClr val="4F4F5C"/>
                </a:solidFill>
                <a:latin typeface="Calibri"/>
                <a:ea typeface="Calibri"/>
                <a:cs typeface="Calibri"/>
                <a:sym typeface="Calibri"/>
              </a:rPr>
              <a:t xml:space="preserve">Does quitting or cutting down on social media improve mood?</a:t>
            </a:r>
          </a:p>
        </p:txBody>
      </p:sp>
      <p:sp>
        <p:nvSpPr>
          <p:cNvPr id="1006" name="OUR PAPERS bullets"/>
          <p:cNvSpPr txBox="1"/>
          <p:nvPr/>
        </p:nvSpPr>
        <p:spPr>
          <a:xfrm>
            <a:off x="731520" y="2743200"/>
            <a:ext cx="3474720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71450" indent="-171450" algn="l">
              <a:spcBef>
                <a:spcPts val="0"/>
              </a:spcBef>
              <a:buClr>
                <a:srgbClr val="57A7B1"/>
              </a:buClr>
              <a:buSzPct val="100000"/>
              <a:buFont typeface="Arial"/>
              <a:buChar char="•"/>
            </a:pPr>
            <a:r>
              <a:rPr lang="en-US" sz="1200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 xml:space="preserve">Facebook deactivation, week-long breaks, daily time limits</a:t>
            </a:r>
          </a:p>
          <a:p>
            <a:pPr marL="171450" indent="-171450" algn="l">
              <a:spcBef>
                <a:spcPts val="500"/>
              </a:spcBef>
              <a:buClr>
                <a:srgbClr val="57A7B1"/>
              </a:buClr>
              <a:buSzPct val="100000"/>
              <a:buFont typeface="Arial"/>
              <a:buChar char="•"/>
            </a:pPr>
            <a:r>
              <a:rPr lang="en-US" sz="1200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 xml:space="preserve">6 are in a 2025 systematic review; 8 are not</a:t>
            </a:r>
          </a:p>
          <a:p>
            <a:pPr marL="171450" indent="-171450" algn="l">
              <a:spcBef>
                <a:spcPts val="500"/>
              </a:spcBef>
              <a:buClr>
                <a:srgbClr val="57A7B1"/>
              </a:buClr>
              <a:buSzPct val="100000"/>
              <a:buFont typeface="Arial"/>
              <a:buChar char="•"/>
            </a:pPr>
            <a:r>
              <a:rPr lang="en-US" sz="1200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 xml:space="preserve">You write the paragraph(s) yourself, from a template</a:t>
            </a:r>
          </a:p>
        </p:txBody>
      </p:sp>
      <p:sp>
        <p:nvSpPr>
          <p:cNvPr id="1007" name="OR BRING YOUR OWN card"/>
          <p:cNvSpPr/>
          <p:nvPr/>
        </p:nvSpPr>
        <p:spPr>
          <a:xfrm>
            <a:off x="4663440" y="868680"/>
            <a:ext cx="4023360" cy="374904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D4D3D9"/>
            </a:solidFill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008" name="OR BRING YOUR OWN label"/>
          <p:cNvSpPr txBox="1"/>
          <p:nvPr/>
        </p:nvSpPr>
        <p:spPr>
          <a:xfrm>
            <a:off x="4937760" y="109728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1">
                <a:solidFill>
                  <a:srgbClr val="57A7B1"/>
                </a:solidFill>
                <a:latin typeface="Calibri"/>
                <a:ea typeface="Calibri"/>
                <a:cs typeface="Calibri"/>
                <a:sym typeface="Calibri"/>
              </a:rPr>
              <a:t xml:space="preserve">OR BRING YOUR OWN</a:t>
            </a:r>
          </a:p>
        </p:txBody>
      </p:sp>
      <p:sp>
        <p:nvSpPr>
          <p:cNvPr id="1009" name="OR BRING YOUR OWN title"/>
          <p:cNvSpPr txBox="1"/>
          <p:nvPr/>
        </p:nvSpPr>
        <p:spPr>
          <a:xfrm>
            <a:off x="4937760" y="1371600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000" b="1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 xml:space="preserve">Your own PDFs</a:t>
            </a:r>
          </a:p>
        </p:txBody>
      </p:sp>
      <p:sp>
        <p:nvSpPr>
          <p:cNvPr id="1010" name="OR BRING YOUR OWN number"/>
          <p:cNvSpPr txBox="1"/>
          <p:nvPr/>
        </p:nvSpPr>
        <p:spPr>
          <a:xfrm>
            <a:off x="4937760" y="1828800"/>
            <a:ext cx="1051560" cy="7315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4800" b="1">
                <a:solidFill>
                  <a:srgbClr val="57A7B1"/>
                </a:solidFill>
                <a:latin typeface="Calibri"/>
                <a:ea typeface="Calibri"/>
                <a:cs typeface="Calibri"/>
                <a:sym typeface="Calibri"/>
              </a:rPr>
              <a:t xml:space="preserve">10+</a:t>
            </a:r>
          </a:p>
        </p:txBody>
      </p:sp>
      <p:sp>
        <p:nvSpPr>
          <p:cNvPr id="1011" name="OR BRING YOUR OWN question"/>
          <p:cNvSpPr txBox="1"/>
          <p:nvPr/>
        </p:nvSpPr>
        <p:spPr>
          <a:xfrm>
            <a:off x="5943600" y="1874520"/>
            <a:ext cx="2468880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00" b="1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 xml:space="preserve">papers or reports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200">
                <a:solidFill>
                  <a:srgbClr val="4F4F5C"/>
                </a:solidFill>
                <a:latin typeface="Calibri"/>
                <a:ea typeface="Calibri"/>
                <a:cs typeface="Calibri"/>
                <a:sym typeface="Calibri"/>
              </a:rPr>
              <a:t xml:space="preserve">Any collection you are allowed to upload to an AI tool.</a:t>
            </a:r>
          </a:p>
        </p:txBody>
      </p:sp>
      <p:sp>
        <p:nvSpPr>
          <p:cNvPr id="1012" name="OR BRING YOUR OWN bullets"/>
          <p:cNvSpPr txBox="1"/>
          <p:nvPr/>
        </p:nvSpPr>
        <p:spPr>
          <a:xfrm>
            <a:off x="4937760" y="2743200"/>
            <a:ext cx="3474720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71450" indent="-171450" algn="l">
              <a:spcBef>
                <a:spcPts val="0"/>
              </a:spcBef>
              <a:buClr>
                <a:srgbClr val="57A7B1"/>
              </a:buClr>
              <a:buSzPct val="100000"/>
              <a:buFont typeface="Arial"/>
              <a:buChar char="•"/>
            </a:pPr>
            <a:r>
              <a:rPr lang="en-US" sz="1200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 xml:space="preserve">Design your own columns</a:t>
            </a:r>
          </a:p>
          <a:p>
            <a:pPr marL="171450" indent="-171450" algn="l">
              <a:spcBef>
                <a:spcPts val="500"/>
              </a:spcBef>
              <a:buClr>
                <a:srgbClr val="57A7B1"/>
              </a:buClr>
              <a:buSzPct val="100000"/>
              <a:buFont typeface="Arial"/>
              <a:buChar char="•"/>
            </a:pPr>
            <a:r>
              <a:rPr lang="en-US" sz="1200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 xml:space="preserve">One extraction table and one figure</a:t>
            </a:r>
          </a:p>
          <a:p>
            <a:pPr marL="171450" indent="-171450" algn="l">
              <a:spcBef>
                <a:spcPts val="500"/>
              </a:spcBef>
              <a:buClr>
                <a:srgbClr val="57A7B1"/>
              </a:buClr>
              <a:buSzPct val="100000"/>
              <a:buFont typeface="Arial"/>
              <a:buChar char="•"/>
            </a:pPr>
            <a:r>
              <a:rPr lang="en-US" sz="1200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 xml:space="preserve">Pulled into a Google Doc to submit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g3854c283ccb_0_6"/>
          <p:cNvGrpSpPr/>
          <p:nvPr/>
        </p:nvGrpSpPr>
        <p:grpSpPr>
          <a:xfrm>
            <a:off x="285750" y="33250"/>
            <a:ext cx="8572500" cy="571500"/>
            <a:chOff x="285750" y="33250"/>
            <a:chExt cx="8572500" cy="571500"/>
          </a:xfrm>
        </p:grpSpPr>
        <p:sp>
          <p:nvSpPr>
            <p:cNvPr id="94" name="Google Shape;94;g3854c283ccb_0_6"/>
            <p:cNvSpPr txBox="1"/>
            <p:nvPr/>
          </p:nvSpPr>
          <p:spPr>
            <a:xfrm>
              <a:off x="285750" y="33250"/>
              <a:ext cx="8572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202934"/>
                  </a:solidFill>
                  <a:latin typeface="Calibri"/>
                  <a:ea typeface="Calibri"/>
                  <a:cs typeface="Calibri"/>
                  <a:sym typeface="Calibri"/>
                </a:rPr>
                <a:t>The workflow: one question, every document</a:t>
              </a:r>
              <a:endParaRPr b="1" sz="2000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3" name="Step 1 card"/>
          <p:cNvSpPr/>
          <p:nvPr/>
        </p:nvSpPr>
        <p:spPr>
          <a:xfrm>
            <a:off x="457200" y="868680"/>
            <a:ext cx="1499616" cy="214884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D4D3D9"/>
            </a:solidFill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014" name="Step 1"/>
          <p:cNvSpPr/>
          <p:nvPr/>
        </p:nvSpPr>
        <p:spPr>
          <a:xfrm>
            <a:off x="640080" y="1051560"/>
            <a:ext cx="411480" cy="411480"/>
          </a:xfrm>
          <a:prstGeom prst="ellipse">
            <a:avLst/>
          </a:prstGeom>
          <a:solidFill>
            <a:srgbClr val="57A7B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 xml:space="preserve">1</a:t>
            </a:r>
          </a:p>
        </p:txBody>
      </p:sp>
      <p:sp>
        <p:nvSpPr>
          <p:cNvPr id="1015" name="Step 1 title"/>
          <p:cNvSpPr txBox="1"/>
          <p:nvPr/>
        </p:nvSpPr>
        <p:spPr>
          <a:xfrm>
            <a:off x="640080" y="1600200"/>
            <a:ext cx="1179576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 xml:space="preserve">Upload</a:t>
            </a:r>
          </a:p>
        </p:txBody>
      </p:sp>
      <p:sp>
        <p:nvSpPr>
          <p:cNvPr id="1016" name="Step 1 text"/>
          <p:cNvSpPr txBox="1"/>
          <p:nvPr/>
        </p:nvSpPr>
        <p:spPr>
          <a:xfrm>
            <a:off x="640080" y="1965960"/>
            <a:ext cx="1179576" cy="9601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00">
                <a:solidFill>
                  <a:srgbClr val="4F4F5C"/>
                </a:solidFill>
                <a:latin typeface="Calibri"/>
                <a:ea typeface="Calibri"/>
                <a:cs typeface="Calibri"/>
                <a:sym typeface="Calibri"/>
              </a:rPr>
              <a:t xml:space="preserve">Add the 14 PDFs to one Gemini Notebook.</a:t>
            </a:r>
          </a:p>
        </p:txBody>
      </p:sp>
      <p:sp>
        <p:nvSpPr>
          <p:cNvPr id="1017" name="Step 2 card"/>
          <p:cNvSpPr/>
          <p:nvPr/>
        </p:nvSpPr>
        <p:spPr>
          <a:xfrm>
            <a:off x="2139696" y="868680"/>
            <a:ext cx="1499616" cy="214884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D4D3D9"/>
            </a:solidFill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018" name="Step 2"/>
          <p:cNvSpPr/>
          <p:nvPr/>
        </p:nvSpPr>
        <p:spPr>
          <a:xfrm>
            <a:off x="2322576" y="1051560"/>
            <a:ext cx="411480" cy="411480"/>
          </a:xfrm>
          <a:prstGeom prst="ellipse">
            <a:avLst/>
          </a:prstGeom>
          <a:solidFill>
            <a:srgbClr val="57A7B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 xml:space="preserve">2</a:t>
            </a:r>
          </a:p>
        </p:txBody>
      </p:sp>
      <p:sp>
        <p:nvSpPr>
          <p:cNvPr id="1019" name="Step 2 title"/>
          <p:cNvSpPr txBox="1"/>
          <p:nvPr/>
        </p:nvSpPr>
        <p:spPr>
          <a:xfrm>
            <a:off x="2322576" y="1600200"/>
            <a:ext cx="1179576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 xml:space="preserve">Extract</a:t>
            </a:r>
          </a:p>
        </p:txBody>
      </p:sp>
      <p:sp>
        <p:nvSpPr>
          <p:cNvPr id="1020" name="Step 2 text"/>
          <p:cNvSpPr txBox="1"/>
          <p:nvPr/>
        </p:nvSpPr>
        <p:spPr>
          <a:xfrm>
            <a:off x="2322576" y="1965960"/>
            <a:ext cx="1179576" cy="9601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00">
                <a:solidFill>
                  <a:srgbClr val="4F4F5C"/>
                </a:solidFill>
                <a:latin typeface="Calibri"/>
                <a:ea typeface="Calibri"/>
                <a:cs typeface="Calibri"/>
                <a:sym typeface="Calibri"/>
              </a:rPr>
              <a:t xml:space="preserve">One prompt: a table with one row per comparison, every cell cited.</a:t>
            </a:r>
          </a:p>
        </p:txBody>
      </p:sp>
      <p:sp>
        <p:nvSpPr>
          <p:cNvPr id="1021" name="Step 3 card"/>
          <p:cNvSpPr/>
          <p:nvPr/>
        </p:nvSpPr>
        <p:spPr>
          <a:xfrm>
            <a:off x="3822192" y="868680"/>
            <a:ext cx="1499616" cy="214884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D4D3D9"/>
            </a:solidFill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022" name="Step 3"/>
          <p:cNvSpPr/>
          <p:nvPr/>
        </p:nvSpPr>
        <p:spPr>
          <a:xfrm>
            <a:off x="4005072" y="1051560"/>
            <a:ext cx="411480" cy="411480"/>
          </a:xfrm>
          <a:prstGeom prst="ellipse">
            <a:avLst/>
          </a:prstGeom>
          <a:solidFill>
            <a:srgbClr val="57A7B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 xml:space="preserve">3</a:t>
            </a:r>
          </a:p>
        </p:txBody>
      </p:sp>
      <p:sp>
        <p:nvSpPr>
          <p:cNvPr id="1023" name="Step 3 title"/>
          <p:cNvSpPr txBox="1"/>
          <p:nvPr/>
        </p:nvSpPr>
        <p:spPr>
          <a:xfrm>
            <a:off x="4005072" y="1600200"/>
            <a:ext cx="1179576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 xml:space="preserve">Chart</a:t>
            </a:r>
          </a:p>
        </p:txBody>
      </p:sp>
      <p:sp>
        <p:nvSpPr>
          <p:cNvPr id="1024" name="Step 3 text"/>
          <p:cNvSpPr txBox="1"/>
          <p:nvPr/>
        </p:nvSpPr>
        <p:spPr>
          <a:xfrm>
            <a:off x="4005072" y="1965960"/>
            <a:ext cx="1179576" cy="9601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00">
                <a:solidFill>
                  <a:srgbClr val="4F4F5C"/>
                </a:solidFill>
                <a:latin typeface="Calibri"/>
                <a:ea typeface="Calibri"/>
                <a:cs typeface="Calibri"/>
                <a:sym typeface="Calibri"/>
              </a:rPr>
              <a:t xml:space="preserve">Ask for a bar chart of the results; download it from Studio.</a:t>
            </a:r>
          </a:p>
        </p:txBody>
      </p:sp>
      <p:sp>
        <p:nvSpPr>
          <p:cNvPr id="1025" name="Step 4 card"/>
          <p:cNvSpPr/>
          <p:nvPr/>
        </p:nvSpPr>
        <p:spPr>
          <a:xfrm>
            <a:off x="5504688" y="868680"/>
            <a:ext cx="1499616" cy="214884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D4D3D9"/>
            </a:solidFill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026" name="Step 4"/>
          <p:cNvSpPr/>
          <p:nvPr/>
        </p:nvSpPr>
        <p:spPr>
          <a:xfrm>
            <a:off x="5687568" y="1051560"/>
            <a:ext cx="411480" cy="411480"/>
          </a:xfrm>
          <a:prstGeom prst="ellipse">
            <a:avLst/>
          </a:prstGeom>
          <a:solidFill>
            <a:srgbClr val="57A7B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 xml:space="preserve">4</a:t>
            </a:r>
          </a:p>
        </p:txBody>
      </p:sp>
      <p:sp>
        <p:nvSpPr>
          <p:cNvPr id="1027" name="Step 4 title"/>
          <p:cNvSpPr txBox="1"/>
          <p:nvPr/>
        </p:nvSpPr>
        <p:spPr>
          <a:xfrm>
            <a:off x="5687568" y="1600200"/>
            <a:ext cx="1179576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 xml:space="preserve">Check</a:t>
            </a:r>
          </a:p>
        </p:txBody>
      </p:sp>
      <p:sp>
        <p:nvSpPr>
          <p:cNvPr id="1028" name="Step 4 text"/>
          <p:cNvSpPr txBox="1"/>
          <p:nvPr/>
        </p:nvSpPr>
        <p:spPr>
          <a:xfrm>
            <a:off x="5687568" y="1965960"/>
            <a:ext cx="1179576" cy="9601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00">
                <a:solidFill>
                  <a:srgbClr val="4F4F5C"/>
                </a:solidFill>
                <a:latin typeface="Calibri"/>
                <a:ea typeface="Calibri"/>
                <a:cs typeface="Calibri"/>
                <a:sym typeface="Calibri"/>
              </a:rPr>
              <a:t xml:space="preserve">Click the citations for 3 rows. Is the AI right?</a:t>
            </a:r>
          </a:p>
        </p:txBody>
      </p:sp>
      <p:sp>
        <p:nvSpPr>
          <p:cNvPr id="1029" name="Step 5 card"/>
          <p:cNvSpPr/>
          <p:nvPr/>
        </p:nvSpPr>
        <p:spPr>
          <a:xfrm>
            <a:off x="7187184" y="868680"/>
            <a:ext cx="1499616" cy="214884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D4D3D9"/>
            </a:solidFill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030" name="Step 5"/>
          <p:cNvSpPr/>
          <p:nvPr/>
        </p:nvSpPr>
        <p:spPr>
          <a:xfrm>
            <a:off x="7370064" y="1051560"/>
            <a:ext cx="411480" cy="411480"/>
          </a:xfrm>
          <a:prstGeom prst="ellipse">
            <a:avLst/>
          </a:prstGeom>
          <a:solidFill>
            <a:srgbClr val="57A7B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 xml:space="preserve">5</a:t>
            </a:r>
          </a:p>
        </p:txBody>
      </p:sp>
      <p:sp>
        <p:nvSpPr>
          <p:cNvPr id="1031" name="Step 5 title"/>
          <p:cNvSpPr txBox="1"/>
          <p:nvPr/>
        </p:nvSpPr>
        <p:spPr>
          <a:xfrm>
            <a:off x="7370064" y="1600200"/>
            <a:ext cx="1179576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 xml:space="preserve">Write</a:t>
            </a:r>
          </a:p>
        </p:txBody>
      </p:sp>
      <p:sp>
        <p:nvSpPr>
          <p:cNvPr id="1032" name="Step 5 text"/>
          <p:cNvSpPr txBox="1"/>
          <p:nvPr/>
        </p:nvSpPr>
        <p:spPr>
          <a:xfrm>
            <a:off x="7370064" y="1965960"/>
            <a:ext cx="1179576" cy="9601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00">
                <a:solidFill>
                  <a:srgbClr val="4F4F5C"/>
                </a:solidFill>
                <a:latin typeface="Calibri"/>
                <a:ea typeface="Calibri"/>
                <a:cs typeface="Calibri"/>
                <a:sym typeface="Calibri"/>
              </a:rPr>
              <a:t xml:space="preserve">Your own paragraph(s) and an AI-use statement, in a Google Doc.</a:t>
            </a:r>
          </a:p>
        </p:txBody>
      </p:sp>
      <p:sp>
        <p:nvSpPr>
          <p:cNvPr id="1033" name="Why callout"/>
          <p:cNvSpPr/>
          <p:nvPr/>
        </p:nvSpPr>
        <p:spPr>
          <a:xfrm>
            <a:off x="457200" y="3246120"/>
            <a:ext cx="8229600" cy="1234440"/>
          </a:xfrm>
          <a:prstGeom prst="roundRect">
            <a:avLst>
              <a:gd name="adj" fmla="val 8000"/>
            </a:avLst>
          </a:prstGeom>
          <a:solidFill>
            <a:srgbClr val="E6F2F3"/>
          </a:solidFill>
          <a:ln>
            <a:noFill/>
          </a:ln>
        </p:spPr>
        <p:txBody>
          <a:bodyPr wrap="square" lIns="228600" tIns="91440" rIns="228600" bIns="9144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1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 xml:space="preserve">Why Gemini Notebook rather than a general chatbot?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200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 xml:space="preserve">It answers only from the sources you upload, and every cell comes with a citation you can click to see the passage. With many long PDFs at once, a general chatbot tends to skim, skip papers and blur details together. It's the pre-work idea again: the same questions, asked of every document.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g3854c283ccb_0_6"/>
          <p:cNvGrpSpPr/>
          <p:nvPr/>
        </p:nvGrpSpPr>
        <p:grpSpPr>
          <a:xfrm>
            <a:off x="285750" y="33250"/>
            <a:ext cx="8572500" cy="571500"/>
            <a:chOff x="285750" y="33250"/>
            <a:chExt cx="8572500" cy="571500"/>
          </a:xfrm>
        </p:grpSpPr>
        <p:sp>
          <p:nvSpPr>
            <p:cNvPr id="94" name="Google Shape;94;g3854c283ccb_0_6"/>
            <p:cNvSpPr txBox="1"/>
            <p:nvPr/>
          </p:nvSpPr>
          <p:spPr>
            <a:xfrm>
              <a:off x="285750" y="33250"/>
              <a:ext cx="8572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202934"/>
                  </a:solidFill>
                  <a:latin typeface="Calibri"/>
                  <a:ea typeface="Calibri"/>
                  <a:cs typeface="Calibri"/>
                  <a:sym typeface="Calibri"/>
                </a:rPr>
                <a:t>The extraction table: 6 columns</a:t>
              </a:r>
              <a:endParaRPr b="1" sz="2000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34" name="Columns card"/>
          <p:cNvSpPr/>
          <p:nvPr/>
        </p:nvSpPr>
        <p:spPr>
          <a:xfrm>
            <a:off x="457200" y="868680"/>
            <a:ext cx="4023360" cy="352044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D4D3D9"/>
            </a:solidFill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035" name="Columns title"/>
          <p:cNvSpPr txBox="1"/>
          <p:nvPr/>
        </p:nvSpPr>
        <p:spPr>
          <a:xfrm>
            <a:off x="685800" y="100584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1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 xml:space="preserve">Your 6 columns (one row per comparison)</a:t>
            </a:r>
          </a:p>
        </p:txBody>
      </p:sp>
      <p:sp>
        <p:nvSpPr>
          <p:cNvPr id="1036" name="Columns list"/>
          <p:cNvSpPr txBox="1"/>
          <p:nvPr/>
        </p:nvSpPr>
        <p:spPr>
          <a:xfrm>
            <a:off x="685800" y="1417320"/>
            <a:ext cx="3657600" cy="23774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71450" indent="-171450" algn="l">
              <a:spcBef>
                <a:spcPts val="0"/>
              </a:spcBef>
              <a:buClr>
                <a:srgbClr val="57A7B1"/>
              </a:buClr>
              <a:buSzPct val="100000"/>
              <a:buFont typeface="Arial"/>
              <a:buChar char="•"/>
            </a:pPr>
            <a:r>
              <a:rPr lang="en-US" sz="1150" b="1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 xml:space="preserve">Design</a:t>
            </a:r>
            <a:r>
              <a:rPr lang="en-US" sz="1150">
                <a:solidFill>
                  <a:srgbClr val="4F4F5C"/>
                </a:solidFill>
                <a:latin typeface="Calibri"/>
                <a:ea typeface="Calibri"/>
                <a:cs typeface="Calibri"/>
                <a:sym typeface="Calibri"/>
              </a:rPr>
              <a:t xml:space="preserve">  RCT / non-randomised / within-person</a:t>
            </a:r>
          </a:p>
          <a:p>
            <a:pPr marL="171450" indent="-171450" algn="l">
              <a:spcBef>
                <a:spcPts val="700"/>
              </a:spcBef>
              <a:buClr>
                <a:srgbClr val="57A7B1"/>
              </a:buClr>
              <a:buSzPct val="100000"/>
              <a:buFont typeface="Arial"/>
              <a:buChar char="•"/>
            </a:pPr>
            <a:r>
              <a:rPr lang="en-US" sz="1150" b="1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 xml:space="preserve">Sample</a:t>
            </a:r>
            <a:r>
              <a:rPr lang="en-US" sz="1150">
                <a:solidFill>
                  <a:srgbClr val="4F4F5C"/>
                </a:solidFill>
                <a:latin typeface="Calibri"/>
                <a:ea typeface="Calibri"/>
                <a:cs typeface="Calibri"/>
                <a:sym typeface="Calibri"/>
              </a:rPr>
              <a:t xml:space="preserve">  number, who and where</a:t>
            </a:r>
          </a:p>
          <a:p>
            <a:pPr marL="171450" indent="-171450" algn="l">
              <a:spcBef>
                <a:spcPts val="700"/>
              </a:spcBef>
              <a:buClr>
                <a:srgbClr val="57A7B1"/>
              </a:buClr>
              <a:buSzPct val="100000"/>
              <a:buFont typeface="Arial"/>
              <a:buChar char="•"/>
            </a:pPr>
            <a:r>
              <a:rPr lang="en-US" sz="1150" b="1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 xml:space="preserve">Intervention</a:t>
            </a:r>
            <a:r>
              <a:rPr lang="en-US" sz="1150">
                <a:solidFill>
                  <a:srgbClr val="4F4F5C"/>
                </a:solidFill>
                <a:latin typeface="Calibri"/>
                <a:ea typeface="Calibri"/>
                <a:cs typeface="Calibri"/>
                <a:sym typeface="Calibri"/>
              </a:rPr>
              <a:t xml:space="preserve">  Quit or Limit; platforms; length in days</a:t>
            </a:r>
          </a:p>
          <a:p>
            <a:pPr marL="171450" indent="-171450" algn="l">
              <a:spcBef>
                <a:spcPts val="700"/>
              </a:spcBef>
              <a:buClr>
                <a:srgbClr val="57A7B1"/>
              </a:buClr>
              <a:buSzPct val="100000"/>
              <a:buFont typeface="Arial"/>
              <a:buChar char="•"/>
            </a:pPr>
            <a:r>
              <a:rPr lang="en-US" sz="1150" b="1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 xml:space="preserve">Outcomes measured</a:t>
            </a:r>
            <a:r>
              <a:rPr lang="en-US" sz="1150">
                <a:solidFill>
                  <a:srgbClr val="4F4F5C"/>
                </a:solidFill>
                <a:latin typeface="Calibri"/>
                <a:ea typeface="Calibri"/>
                <a:cs typeface="Calibri"/>
                <a:sym typeface="Calibri"/>
              </a:rPr>
              <a:t xml:space="preserve">  with the scales used</a:t>
            </a:r>
          </a:p>
          <a:p>
            <a:pPr marL="171450" indent="-171450" algn="l">
              <a:spcBef>
                <a:spcPts val="700"/>
              </a:spcBef>
              <a:buClr>
                <a:srgbClr val="57A7B1"/>
              </a:buClr>
              <a:buSzPct val="100000"/>
              <a:buFont typeface="Arial"/>
              <a:buChar char="•"/>
            </a:pPr>
            <a:r>
              <a:rPr lang="en-US" sz="1150" b="1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 xml:space="preserve">Positive affect result</a:t>
            </a:r>
            <a:r>
              <a:rPr lang="en-US" sz="1150">
                <a:solidFill>
                  <a:srgbClr val="4F4F5C"/>
                </a:solidFill>
                <a:latin typeface="Calibri"/>
                <a:ea typeface="Calibri"/>
                <a:cs typeface="Calibri"/>
                <a:sym typeface="Calibri"/>
              </a:rPr>
              <a:t xml:space="preserve">  Improved / No clear effect / Worse / Not measured</a:t>
            </a:r>
          </a:p>
          <a:p>
            <a:pPr marL="171450" indent="-171450" algn="l">
              <a:spcBef>
                <a:spcPts val="700"/>
              </a:spcBef>
              <a:buClr>
                <a:srgbClr val="57A7B1"/>
              </a:buClr>
              <a:buSzPct val="100000"/>
              <a:buFont typeface="Arial"/>
              <a:buChar char="•"/>
            </a:pPr>
            <a:r>
              <a:rPr lang="en-US" sz="1150" b="1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 xml:space="preserve">Key finding</a:t>
            </a:r>
            <a:r>
              <a:rPr lang="en-US" sz="1150">
                <a:solidFill>
                  <a:srgbClr val="4F4F5C"/>
                </a:solidFill>
                <a:latin typeface="Calibri"/>
                <a:ea typeface="Calibri"/>
                <a:cs typeface="Calibri"/>
                <a:sym typeface="Calibri"/>
              </a:rPr>
              <a:t xml:space="preserve">  one sentence, with effect size if reported</a:t>
            </a:r>
          </a:p>
        </p:txBody>
      </p:sp>
      <p:sp>
        <p:nvSpPr>
          <p:cNvPr id="1037" name="Columns note"/>
          <p:cNvSpPr txBox="1"/>
          <p:nvPr/>
        </p:nvSpPr>
        <p:spPr>
          <a:xfrm>
            <a:off x="685800" y="384048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50" i="1">
                <a:solidFill>
                  <a:srgbClr val="4F4F5C"/>
                </a:solidFill>
                <a:latin typeface="Calibri"/>
                <a:ea typeface="Calibri"/>
                <a:cs typeface="Calibri"/>
                <a:sym typeface="Calibri"/>
              </a:rPr>
              <a:t xml:space="preserve">One row per comparison with a control group: Przybylski 2021 has three, Hartanto 2025 two. 17 rows in all.</a:t>
            </a:r>
          </a:p>
        </p:txBody>
      </p:sp>
      <p:sp>
        <p:nvSpPr>
          <p:cNvPr id="1038" name="Next steps card"/>
          <p:cNvSpPr/>
          <p:nvPr/>
        </p:nvSpPr>
        <p:spPr>
          <a:xfrm>
            <a:off x="4663440" y="868680"/>
            <a:ext cx="4023360" cy="352044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D4D3D9"/>
            </a:solidFill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039" name="Next steps title"/>
          <p:cNvSpPr txBox="1"/>
          <p:nvPr/>
        </p:nvSpPr>
        <p:spPr>
          <a:xfrm>
            <a:off x="4892040" y="1005840"/>
            <a:ext cx="361188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1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 xml:space="preserve">Then</a:t>
            </a:r>
          </a:p>
        </p:txBody>
      </p:sp>
      <p:sp>
        <p:nvSpPr>
          <p:cNvPr id="1040" name="Next steps list"/>
          <p:cNvSpPr txBox="1"/>
          <p:nvPr/>
        </p:nvSpPr>
        <p:spPr>
          <a:xfrm>
            <a:off x="4892040" y="1371600"/>
            <a:ext cx="3611880" cy="2926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28600" indent="-228600" algn="l">
              <a:spcBef>
                <a:spcPts val="0"/>
              </a:spcBef>
              <a:buClr>
                <a:srgbClr val="57A7B1"/>
              </a:buClr>
              <a:buSzPct val="100000"/>
              <a:buFont typeface="Calibri"/>
              <a:buAutoNum type="arabicPeriod"/>
            </a:pPr>
            <a:r>
              <a:rPr lang="en-US" sz="1150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 xml:space="preserve">Bar chart: sample size per row, split by positive affect result, coloured quit vs limit</a:t>
            </a:r>
          </a:p>
          <a:p>
            <a:pPr marL="228600" indent="-228600" algn="l">
              <a:spcBef>
                <a:spcPts val="450"/>
              </a:spcBef>
              <a:buClr>
                <a:srgbClr val="57A7B1"/>
              </a:buClr>
              <a:buSzPct val="100000"/>
              <a:buFont typeface="Calibri"/>
              <a:buAutoNum type="arabicPeriod"/>
            </a:pPr>
            <a:r>
              <a:rPr lang="en-US" sz="1150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 xml:space="preserve">Check sample and result for 3 rows by clicking the citations</a:t>
            </a:r>
          </a:p>
          <a:p>
            <a:pPr marL="228600" indent="-228600" algn="l">
              <a:spcBef>
                <a:spcPts val="450"/>
              </a:spcBef>
              <a:buClr>
                <a:srgbClr val="57A7B1"/>
              </a:buClr>
              <a:buSzPct val="100000"/>
              <a:buFont typeface="Calibri"/>
              <a:buAutoNum type="arabicPeriod"/>
            </a:pPr>
            <a:r>
              <a:rPr lang="en-US" sz="1150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 xml:space="preserve">Read the meta-analysis: what does it show that your table doesn't?</a:t>
            </a:r>
          </a:p>
          <a:p>
            <a:pPr marL="228600" indent="-228600" algn="l">
              <a:spcBef>
                <a:spcPts val="450"/>
              </a:spcBef>
              <a:buClr>
                <a:srgbClr val="57A7B1"/>
              </a:buClr>
              <a:buSzPct val="100000"/>
              <a:buFont typeface="Calibri"/>
              <a:buAutoNum type="arabicPeriod"/>
            </a:pPr>
            <a:r>
              <a:rPr lang="en-US" sz="1150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 xml:space="preserve">Write 1-2 paragraphs yourself, from a template</a:t>
            </a:r>
          </a:p>
          <a:p>
            <a:pPr marL="228600" indent="-228600" algn="l">
              <a:spcBef>
                <a:spcPts val="450"/>
              </a:spcBef>
              <a:buClr>
                <a:srgbClr val="57A7B1"/>
              </a:buClr>
              <a:buSzPct val="100000"/>
              <a:buFont typeface="Calibri"/>
              <a:buAutoNum type="arabicPeriod"/>
            </a:pPr>
            <a:r>
              <a:rPr lang="en-US" sz="1150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 xml:space="preserve">Add an AI-use statement: tool, task, what you checked</a:t>
            </a:r>
          </a:p>
        </p:txBody>
      </p:sp>
      <p:sp>
        <p:nvSpPr>
          <p:cNvPr id="1041" name="Footer note"/>
          <p:cNvSpPr txBox="1"/>
          <p:nvPr/>
        </p:nvSpPr>
        <p:spPr>
          <a:xfrm>
            <a:off x="457200" y="446227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i="1">
                <a:solidFill>
                  <a:srgbClr val="4F4F5C"/>
                </a:solidFill>
                <a:latin typeface="Calibri"/>
                <a:ea typeface="Calibri"/>
                <a:cs typeface="Calibri"/>
                <a:sym typeface="Calibri"/>
              </a:rPr>
              <a:t xml:space="preserve">Every column constrains the answer and gives the AI a way to say “Not stated”. Full prompts are in the instructions.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g3854c283ccb_0_6"/>
          <p:cNvGrpSpPr/>
          <p:nvPr/>
        </p:nvGrpSpPr>
        <p:grpSpPr>
          <a:xfrm>
            <a:off x="285750" y="33250"/>
            <a:ext cx="8572500" cy="571500"/>
            <a:chOff x="285750" y="33250"/>
            <a:chExt cx="8572500" cy="571500"/>
          </a:xfrm>
        </p:grpSpPr>
        <p:sp>
          <p:nvSpPr>
            <p:cNvPr id="94" name="Google Shape;94;g3854c283ccb_0_6"/>
            <p:cNvSpPr txBox="1"/>
            <p:nvPr/>
          </p:nvSpPr>
          <p:spPr>
            <a:xfrm>
              <a:off x="285750" y="33250"/>
              <a:ext cx="8572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202934"/>
                  </a:solidFill>
                  <a:latin typeface="Calibri"/>
                  <a:ea typeface="Calibri"/>
                  <a:cs typeface="Calibri"/>
                  <a:sym typeface="Calibri"/>
                </a:rPr>
                <a:t>What a meta-analysis shows that our table doesn't</a:t>
              </a:r>
              <a:endParaRPr b="1" sz="2000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2" name="Your table card"/>
          <p:cNvSpPr/>
          <p:nvPr/>
        </p:nvSpPr>
        <p:spPr>
          <a:xfrm>
            <a:off x="457200" y="868680"/>
            <a:ext cx="4023360" cy="352044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D4D3D9"/>
            </a:solidFill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043" name="Your table title"/>
          <p:cNvSpPr txBox="1"/>
          <p:nvPr/>
        </p:nvSpPr>
        <p:spPr>
          <a:xfrm>
            <a:off x="731520" y="105156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 xml:space="preserve">Your table</a:t>
            </a:r>
          </a:p>
        </p:txBody>
      </p:sp>
      <p:sp>
        <p:nvSpPr>
          <p:cNvPr id="1044" name="Your table subtitle"/>
          <p:cNvSpPr txBox="1"/>
          <p:nvPr/>
        </p:nvSpPr>
        <p:spPr>
          <a:xfrm>
            <a:off x="731520" y="141732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50" i="1">
                <a:solidFill>
                  <a:srgbClr val="4F4F5C"/>
                </a:solidFill>
                <a:latin typeface="Calibri"/>
                <a:ea typeface="Calibri"/>
                <a:cs typeface="Calibri"/>
                <a:sym typeface="Calibri"/>
              </a:rPr>
              <a:t xml:space="preserve">A quick narrative summary</a:t>
            </a:r>
          </a:p>
        </p:txBody>
      </p:sp>
      <p:sp>
        <p:nvSpPr>
          <p:cNvPr id="1045" name="Your table list"/>
          <p:cNvSpPr txBox="1"/>
          <p:nvPr/>
        </p:nvSpPr>
        <p:spPr>
          <a:xfrm>
            <a:off x="731520" y="1874520"/>
            <a:ext cx="3520440" cy="23774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71450" indent="-171450" algn="l">
              <a:spcBef>
                <a:spcPts val="0"/>
              </a:spcBef>
              <a:buClr>
                <a:srgbClr val="57A7B1"/>
              </a:buClr>
              <a:buSzPct val="100000"/>
              <a:buFont typeface="Arial"/>
              <a:buChar char="•"/>
            </a:pPr>
            <a:r>
              <a:rPr lang="en-US" sz="1200" b="1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 xml:space="preserve">Counts verdicts:</a:t>
            </a:r>
            <a:r>
              <a:rPr lang="en-US" sz="1200">
                <a:solidFill>
                  <a:srgbClr val="4F4F5C"/>
                </a:solidFill>
                <a:latin typeface="Calibri"/>
                <a:ea typeface="Calibri"/>
                <a:cs typeface="Calibri"/>
                <a:sym typeface="Calibri"/>
              </a:rPr>
              <a:t xml:space="preserve">  how many rows say “Improved”?</a:t>
            </a:r>
          </a:p>
          <a:p>
            <a:pPr marL="171450" indent="-171450" algn="l">
              <a:spcBef>
                <a:spcPts val="700"/>
              </a:spcBef>
              <a:buClr>
                <a:srgbClr val="57A7B1"/>
              </a:buClr>
              <a:buSzPct val="100000"/>
              <a:buFont typeface="Arial"/>
              <a:buChar char="•"/>
            </a:pPr>
            <a:r>
              <a:rPr lang="en-US" sz="1200" b="1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 xml:space="preserve">Every study counts once,</a:t>
            </a:r>
            <a:r>
              <a:rPr lang="en-US" sz="1200">
                <a:solidFill>
                  <a:srgbClr val="4F4F5C"/>
                </a:solidFill>
                <a:latin typeface="Calibri"/>
                <a:ea typeface="Calibri"/>
                <a:cs typeface="Calibri"/>
                <a:sym typeface="Calibri"/>
              </a:rPr>
              <a:t xml:space="preserve">  whether it had 35 people or 3,000</a:t>
            </a:r>
          </a:p>
          <a:p>
            <a:pPr marL="171450" indent="-171450" algn="l">
              <a:spcBef>
                <a:spcPts val="700"/>
              </a:spcBef>
              <a:buClr>
                <a:srgbClr val="57A7B1"/>
              </a:buClr>
              <a:buSzPct val="100000"/>
              <a:buFont typeface="Arial"/>
              <a:buChar char="•"/>
            </a:pPr>
            <a:r>
              <a:rPr lang="en-US" sz="1200" b="1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 xml:space="preserve">Only the papers we picked,</a:t>
            </a:r>
            <a:r>
              <a:rPr lang="en-US" sz="1200">
                <a:solidFill>
                  <a:srgbClr val="4F4F5C"/>
                </a:solidFill>
                <a:latin typeface="Calibri"/>
                <a:ea typeface="Calibri"/>
                <a:cs typeface="Calibri"/>
                <a:sym typeface="Calibri"/>
              </a:rPr>
              <a:t xml:space="preserve">  free to read</a:t>
            </a:r>
          </a:p>
          <a:p>
            <a:pPr marL="171450" indent="-171450" algn="l">
              <a:spcBef>
                <a:spcPts val="700"/>
              </a:spcBef>
              <a:buClr>
                <a:srgbClr val="57A7B1"/>
              </a:buClr>
              <a:buSzPct val="100000"/>
              <a:buFont typeface="Arial"/>
              <a:buChar char="•"/>
            </a:pPr>
            <a:r>
              <a:rPr lang="en-US" sz="1200" b="1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 xml:space="preserve">Mixes quit and cut-down</a:t>
            </a:r>
            <a:r>
              <a:rPr lang="en-US" sz="1200">
                <a:solidFill>
                  <a:srgbClr val="4F4F5C"/>
                </a:solidFill>
                <a:latin typeface="Calibri"/>
                <a:ea typeface="Calibri"/>
                <a:cs typeface="Calibri"/>
                <a:sym typeface="Calibri"/>
              </a:rPr>
              <a:t xml:space="preserve">  studies, and different outcomes</a:t>
            </a:r>
          </a:p>
        </p:txBody>
      </p:sp>
      <p:sp>
        <p:nvSpPr>
          <p:cNvPr id="1046" name="The meta-analysis card"/>
          <p:cNvSpPr/>
          <p:nvPr/>
        </p:nvSpPr>
        <p:spPr>
          <a:xfrm>
            <a:off x="4663440" y="868680"/>
            <a:ext cx="4023360" cy="3520440"/>
          </a:xfrm>
          <a:prstGeom prst="roundRect">
            <a:avLst>
              <a:gd name="adj" fmla="val 5357"/>
            </a:avLst>
          </a:prstGeom>
          <a:solidFill>
            <a:srgbClr val="E6F2F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047" name="The meta-analysis title"/>
          <p:cNvSpPr txBox="1"/>
          <p:nvPr/>
        </p:nvSpPr>
        <p:spPr>
          <a:xfrm>
            <a:off x="4937760" y="105156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 xml:space="preserve">The meta-analysis</a:t>
            </a:r>
          </a:p>
        </p:txBody>
      </p:sp>
      <p:sp>
        <p:nvSpPr>
          <p:cNvPr id="1048" name="The meta-analysis subtitle"/>
          <p:cNvSpPr txBox="1"/>
          <p:nvPr/>
        </p:nvSpPr>
        <p:spPr>
          <a:xfrm>
            <a:off x="4937760" y="141732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50" i="1">
                <a:solidFill>
                  <a:srgbClr val="4F4F5C"/>
                </a:solidFill>
                <a:latin typeface="Calibri"/>
                <a:ea typeface="Calibri"/>
                <a:cs typeface="Calibri"/>
                <a:sym typeface="Calibri"/>
              </a:rPr>
              <a:t xml:space="preserve">Lemahieu et al. 2025, Scientific Reports</a:t>
            </a:r>
          </a:p>
        </p:txBody>
      </p:sp>
      <p:sp>
        <p:nvSpPr>
          <p:cNvPr id="1049" name="The meta-analysis list"/>
          <p:cNvSpPr txBox="1"/>
          <p:nvPr/>
        </p:nvSpPr>
        <p:spPr>
          <a:xfrm>
            <a:off x="4937760" y="1874520"/>
            <a:ext cx="3520440" cy="23774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71450" indent="-171450" algn="l">
              <a:spcBef>
                <a:spcPts val="0"/>
              </a:spcBef>
              <a:buClr>
                <a:srgbClr val="57A7B1"/>
              </a:buClr>
              <a:buSzPct val="100000"/>
              <a:buFont typeface="Arial"/>
              <a:buChar char="•"/>
            </a:pPr>
            <a:r>
              <a:rPr lang="en-US" sz="1200" b="1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 xml:space="preserve">Pools effect sizes:</a:t>
            </a:r>
            <a:r>
              <a:rPr lang="en-US" sz="1200">
                <a:solidFill>
                  <a:srgbClr val="4F4F5C"/>
                </a:solidFill>
                <a:latin typeface="Calibri"/>
                <a:ea typeface="Calibri"/>
                <a:cs typeface="Calibri"/>
                <a:sym typeface="Calibri"/>
              </a:rPr>
              <a:t xml:space="preserve">  positive affect g = 0.03, not significant</a:t>
            </a:r>
          </a:p>
          <a:p>
            <a:pPr marL="171450" indent="-171450" algn="l">
              <a:spcBef>
                <a:spcPts val="700"/>
              </a:spcBef>
              <a:buClr>
                <a:srgbClr val="57A7B1"/>
              </a:buClr>
              <a:buSzPct val="100000"/>
              <a:buFont typeface="Arial"/>
              <a:buChar char="•"/>
            </a:pPr>
            <a:r>
              <a:rPr lang="en-US" sz="1200" b="1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 xml:space="preserve">Weights by precision:</a:t>
            </a:r>
            <a:r>
              <a:rPr lang="en-US" sz="1200">
                <a:solidFill>
                  <a:srgbClr val="4F4F5C"/>
                </a:solidFill>
                <a:latin typeface="Calibri"/>
                <a:ea typeface="Calibri"/>
                <a:cs typeface="Calibri"/>
                <a:sym typeface="Calibri"/>
              </a:rPr>
              <a:t xml:space="preserve">  big studies count more</a:t>
            </a:r>
          </a:p>
          <a:p>
            <a:pPr marL="171450" indent="-171450" algn="l">
              <a:spcBef>
                <a:spcPts val="700"/>
              </a:spcBef>
              <a:buClr>
                <a:srgbClr val="57A7B1"/>
              </a:buClr>
              <a:buSzPct val="100000"/>
              <a:buFont typeface="Arial"/>
              <a:buChar char="•"/>
            </a:pPr>
            <a:r>
              <a:rPr lang="en-US" sz="1200" b="1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 xml:space="preserve">Systematic search:</a:t>
            </a:r>
            <a:r>
              <a:rPr lang="en-US" sz="1200">
                <a:solidFill>
                  <a:srgbClr val="4F4F5C"/>
                </a:solidFill>
                <a:latin typeface="Calibri"/>
                <a:ea typeface="Calibri"/>
                <a:cs typeface="Calibri"/>
                <a:sym typeface="Calibri"/>
              </a:rPr>
              <a:t xml:space="preserve">  includes studies behind paywalls</a:t>
            </a:r>
          </a:p>
          <a:p>
            <a:pPr marL="171450" indent="-171450" algn="l">
              <a:spcBef>
                <a:spcPts val="700"/>
              </a:spcBef>
              <a:buClr>
                <a:srgbClr val="57A7B1"/>
              </a:buClr>
              <a:buSzPct val="100000"/>
              <a:buFont typeface="Arial"/>
              <a:buChar char="•"/>
            </a:pPr>
            <a:r>
              <a:rPr lang="en-US" sz="1200" b="1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 xml:space="preserve">Checks heterogeneity, bias</a:t>
            </a:r>
            <a:r>
              <a:rPr lang="en-US" sz="1200">
                <a:solidFill>
                  <a:srgbClr val="4F4F5C"/>
                </a:solidFill>
                <a:latin typeface="Calibri"/>
                <a:ea typeface="Calibri"/>
                <a:cs typeface="Calibri"/>
                <a:sym typeface="Calibri"/>
              </a:rPr>
              <a:t xml:space="preserve">  and whether break length matters</a:t>
            </a:r>
          </a:p>
        </p:txBody>
      </p:sp>
      <p:sp>
        <p:nvSpPr>
          <p:cNvPr id="1050" name="Footer note"/>
          <p:cNvSpPr txBox="1"/>
          <p:nvPr/>
        </p:nvSpPr>
        <p:spPr>
          <a:xfrm>
            <a:off x="457200" y="446227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i="1">
                <a:solidFill>
                  <a:srgbClr val="4F4F5C"/>
                </a:solidFill>
                <a:latin typeface="Calibri"/>
                <a:ea typeface="Calibri"/>
                <a:cs typeface="Calibri"/>
                <a:sym typeface="Calibri"/>
              </a:rPr>
              <a:t xml:space="preserve">You will write 2-3 sentences on this in your own words (Part 5 of the instructions).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g3854c283ccb_0_6"/>
          <p:cNvGrpSpPr/>
          <p:nvPr/>
        </p:nvGrpSpPr>
        <p:grpSpPr>
          <a:xfrm>
            <a:off x="285750" y="33250"/>
            <a:ext cx="8572500" cy="571500"/>
            <a:chOff x="285750" y="33250"/>
            <a:chExt cx="8572500" cy="571500"/>
          </a:xfrm>
        </p:grpSpPr>
        <p:sp>
          <p:nvSpPr>
            <p:cNvPr id="94" name="Google Shape;94;g3854c283ccb_0_6"/>
            <p:cNvSpPr txBox="1"/>
            <p:nvPr/>
          </p:nvSpPr>
          <p:spPr>
            <a:xfrm>
              <a:off x="285750" y="33250"/>
              <a:ext cx="8572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202934"/>
                  </a:solidFill>
                  <a:latin typeface="Calibri"/>
                  <a:ea typeface="Calibri"/>
                  <a:cs typeface="Calibri"/>
                  <a:sym typeface="Calibri"/>
                </a:rPr>
                <a:t>Check the AI's work, then write it up</a:t>
              </a:r>
              <a:endParaRPr b="1" sz="2000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1" name="Check title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1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 xml:space="preserve">Check 3 rows against the PDFs: click the citation, read around it</a:t>
            </a:r>
          </a:p>
        </p:txBody>
      </p:sp>
      <p:graphicFrame>
        <p:nvGraphicFramePr>
          <p:cNvPr id="1052" name="Accuracy check example"/>
          <p:cNvGraphicFramePr>
            <a:graphicFrameLocks noGrp="1"/>
          </p:cNvGraphicFramePr>
          <p:nvPr/>
        </p:nvGraphicFramePr>
        <p:xfrm>
          <a:off x="457200" y="1188720"/>
          <a:ext cx="8229600" cy="877824"/>
        </p:xfrm>
        <a:graphic>
          <a:graphicData uri="http://schemas.openxmlformats.org/drawingml/2006/table">
            <a:tbl>
              <a:tblPr firstRow="1" bandRow="1"/>
              <a:tblGrid>
                <a:gridCol w="1920240"/>
                <a:gridCol w="1005840"/>
                <a:gridCol w="822960"/>
                <a:gridCol w="822960"/>
                <a:gridCol w="3657600"/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 xml:space="preserve">Row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D4D3D9"/>
                      </a:solidFill>
                    </a:lnL>
                    <a:lnR w="6350">
                      <a:solidFill>
                        <a:srgbClr val="D4D3D9"/>
                      </a:solidFill>
                    </a:lnR>
                    <a:lnT w="6350">
                      <a:solidFill>
                        <a:srgbClr val="D4D3D9"/>
                      </a:solidFill>
                    </a:lnT>
                    <a:lnB w="6350">
                      <a:solidFill>
                        <a:srgbClr val="D4D3D9"/>
                      </a:solidFill>
                    </a:lnB>
                    <a:solidFill>
                      <a:srgbClr val="2029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 xml:space="preserve">Column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D4D3D9"/>
                      </a:solidFill>
                    </a:lnL>
                    <a:lnR w="6350">
                      <a:solidFill>
                        <a:srgbClr val="D4D3D9"/>
                      </a:solidFill>
                    </a:lnR>
                    <a:lnT w="6350">
                      <a:solidFill>
                        <a:srgbClr val="D4D3D9"/>
                      </a:solidFill>
                    </a:lnT>
                    <a:lnB w="6350">
                      <a:solidFill>
                        <a:srgbClr val="D4D3D9"/>
                      </a:solidFill>
                    </a:lnB>
                    <a:solidFill>
                      <a:srgbClr val="2029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 xml:space="preserve">AI answer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D4D3D9"/>
                      </a:solidFill>
                    </a:lnL>
                    <a:lnR w="6350">
                      <a:solidFill>
                        <a:srgbClr val="D4D3D9"/>
                      </a:solidFill>
                    </a:lnR>
                    <a:lnT w="6350">
                      <a:solidFill>
                        <a:srgbClr val="D4D3D9"/>
                      </a:solidFill>
                    </a:lnT>
                    <a:lnB w="6350">
                      <a:solidFill>
                        <a:srgbClr val="D4D3D9"/>
                      </a:solidFill>
                    </a:lnB>
                    <a:solidFill>
                      <a:srgbClr val="2029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 xml:space="preserve">Correct?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D4D3D9"/>
                      </a:solidFill>
                    </a:lnL>
                    <a:lnR w="6350">
                      <a:solidFill>
                        <a:srgbClr val="D4D3D9"/>
                      </a:solidFill>
                    </a:lnR>
                    <a:lnT w="6350">
                      <a:solidFill>
                        <a:srgbClr val="D4D3D9"/>
                      </a:solidFill>
                    </a:lnT>
                    <a:lnB w="6350">
                      <a:solidFill>
                        <a:srgbClr val="D4D3D9"/>
                      </a:solidFill>
                    </a:lnB>
                    <a:solidFill>
                      <a:srgbClr val="2029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 xml:space="preserve">Note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D4D3D9"/>
                      </a:solidFill>
                    </a:lnL>
                    <a:lnR w="6350">
                      <a:solidFill>
                        <a:srgbClr val="D4D3D9"/>
                      </a:solidFill>
                    </a:lnR>
                    <a:lnT w="6350">
                      <a:solidFill>
                        <a:srgbClr val="D4D3D9"/>
                      </a:solidFill>
                    </a:lnT>
                    <a:lnB w="6350">
                      <a:solidFill>
                        <a:srgbClr val="D4D3D9"/>
                      </a:solidFill>
                    </a:lnB>
                    <a:solidFill>
                      <a:srgbClr val="20293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50">
                          <a:solidFill>
                            <a:srgbClr val="2029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 xml:space="preserve">Vally &amp; D'Souza (2019)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D4D3D9"/>
                      </a:solidFill>
                    </a:lnL>
                    <a:lnR w="6350">
                      <a:solidFill>
                        <a:srgbClr val="D4D3D9"/>
                      </a:solidFill>
                    </a:lnR>
                    <a:lnT w="6350">
                      <a:solidFill>
                        <a:srgbClr val="D4D3D9"/>
                      </a:solidFill>
                    </a:lnT>
                    <a:lnB w="6350">
                      <a:solidFill>
                        <a:srgbClr val="D4D3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50">
                          <a:solidFill>
                            <a:srgbClr val="2029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 xml:space="preserve">Sample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D4D3D9"/>
                      </a:solidFill>
                    </a:lnL>
                    <a:lnR w="6350">
                      <a:solidFill>
                        <a:srgbClr val="D4D3D9"/>
                      </a:solidFill>
                    </a:lnR>
                    <a:lnT w="6350">
                      <a:solidFill>
                        <a:srgbClr val="D4D3D9"/>
                      </a:solidFill>
                    </a:lnT>
                    <a:lnB w="6350">
                      <a:solidFill>
                        <a:srgbClr val="D4D3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50">
                          <a:solidFill>
                            <a:srgbClr val="2029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 xml:space="preserve">68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D4D3D9"/>
                      </a:solidFill>
                    </a:lnL>
                    <a:lnR w="6350">
                      <a:solidFill>
                        <a:srgbClr val="D4D3D9"/>
                      </a:solidFill>
                    </a:lnR>
                    <a:lnT w="6350">
                      <a:solidFill>
                        <a:srgbClr val="D4D3D9"/>
                      </a:solidFill>
                    </a:lnT>
                    <a:lnB w="6350">
                      <a:solidFill>
                        <a:srgbClr val="D4D3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50">
                          <a:solidFill>
                            <a:srgbClr val="2029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 xml:space="preserve">No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D4D3D9"/>
                      </a:solidFill>
                    </a:lnL>
                    <a:lnR w="6350">
                      <a:solidFill>
                        <a:srgbClr val="D4D3D9"/>
                      </a:solidFill>
                    </a:lnR>
                    <a:lnT w="6350">
                      <a:solidFill>
                        <a:srgbClr val="D4D3D9"/>
                      </a:solidFill>
                    </a:lnT>
                    <a:lnB w="6350">
                      <a:solidFill>
                        <a:srgbClr val="D4D3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50">
                          <a:solidFill>
                            <a:srgbClr val="2029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 xml:space="preserve">Abstract says 68; methods and Table 1 report 78 (39 per group)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D4D3D9"/>
                      </a:solidFill>
                    </a:lnL>
                    <a:lnR w="6350">
                      <a:solidFill>
                        <a:srgbClr val="D4D3D9"/>
                      </a:solidFill>
                    </a:lnR>
                    <a:lnT w="6350">
                      <a:solidFill>
                        <a:srgbClr val="D4D3D9"/>
                      </a:solidFill>
                    </a:lnT>
                    <a:lnB w="6350">
                      <a:solidFill>
                        <a:srgbClr val="D4D3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50">
                          <a:solidFill>
                            <a:srgbClr val="2029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 xml:space="preserve">Przybylski et al. (2021)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D4D3D9"/>
                      </a:solidFill>
                    </a:lnL>
                    <a:lnR w="6350">
                      <a:solidFill>
                        <a:srgbClr val="D4D3D9"/>
                      </a:solidFill>
                    </a:lnR>
                    <a:lnT w="6350">
                      <a:solidFill>
                        <a:srgbClr val="D4D3D9"/>
                      </a:solidFill>
                    </a:lnT>
                    <a:lnB w="6350">
                      <a:solidFill>
                        <a:srgbClr val="D4D3D9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50">
                          <a:solidFill>
                            <a:srgbClr val="2029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 xml:space="preserve">Rows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D4D3D9"/>
                      </a:solidFill>
                    </a:lnL>
                    <a:lnR w="6350">
                      <a:solidFill>
                        <a:srgbClr val="D4D3D9"/>
                      </a:solidFill>
                    </a:lnR>
                    <a:lnT w="6350">
                      <a:solidFill>
                        <a:srgbClr val="D4D3D9"/>
                      </a:solidFill>
                    </a:lnT>
                    <a:lnB w="6350">
                      <a:solidFill>
                        <a:srgbClr val="D4D3D9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50">
                          <a:solidFill>
                            <a:srgbClr val="2029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 xml:space="preserve">1 row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D4D3D9"/>
                      </a:solidFill>
                    </a:lnL>
                    <a:lnR w="6350">
                      <a:solidFill>
                        <a:srgbClr val="D4D3D9"/>
                      </a:solidFill>
                    </a:lnR>
                    <a:lnT w="6350">
                      <a:solidFill>
                        <a:srgbClr val="D4D3D9"/>
                      </a:solidFill>
                    </a:lnT>
                    <a:lnB w="6350">
                      <a:solidFill>
                        <a:srgbClr val="D4D3D9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50">
                          <a:solidFill>
                            <a:srgbClr val="2029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 xml:space="preserve">No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D4D3D9"/>
                      </a:solidFill>
                    </a:lnL>
                    <a:lnR w="6350">
                      <a:solidFill>
                        <a:srgbClr val="D4D3D9"/>
                      </a:solidFill>
                    </a:lnR>
                    <a:lnT w="6350">
                      <a:solidFill>
                        <a:srgbClr val="D4D3D9"/>
                      </a:solidFill>
                    </a:lnT>
                    <a:lnB w="6350">
                      <a:solidFill>
                        <a:srgbClr val="D4D3D9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50">
                          <a:solidFill>
                            <a:srgbClr val="2029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 xml:space="preserve">Three separate experiments, so three rows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D4D3D9"/>
                      </a:solidFill>
                    </a:lnL>
                    <a:lnR w="6350">
                      <a:solidFill>
                        <a:srgbClr val="D4D3D9"/>
                      </a:solidFill>
                    </a:lnR>
                    <a:lnT w="6350">
                      <a:solidFill>
                        <a:srgbClr val="D4D3D9"/>
                      </a:solidFill>
                    </a:lnT>
                    <a:lnB w="6350">
                      <a:solidFill>
                        <a:srgbClr val="D4D3D9"/>
                      </a:solidFill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1053" name="Check note"/>
          <p:cNvSpPr txBox="1"/>
          <p:nvPr/>
        </p:nvSpPr>
        <p:spPr>
          <a:xfrm>
            <a:off x="457200" y="22402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i="1">
                <a:solidFill>
                  <a:srgbClr val="4F4F5C"/>
                </a:solidFill>
                <a:latin typeface="Calibri"/>
                <a:ea typeface="Calibri"/>
                <a:cs typeface="Calibri"/>
                <a:sym typeface="Calibri"/>
              </a:rPr>
              <a:t xml:space="preserve">Illustrative examples of what to look for; your own notebook's answers may differ.</a:t>
            </a:r>
          </a:p>
        </p:txBody>
      </p:sp>
      <p:sp>
        <p:nvSpPr>
          <p:cNvPr id="1054" name="Report title"/>
          <p:cNvSpPr txBox="1"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1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 xml:space="preserve">Hand in one Google Doc</a:t>
            </a:r>
          </a:p>
        </p:txBody>
      </p:sp>
      <p:sp>
        <p:nvSpPr>
          <p:cNvPr id="1055" name="Report item 1"/>
          <p:cNvSpPr/>
          <p:nvPr/>
        </p:nvSpPr>
        <p:spPr>
          <a:xfrm>
            <a:off x="457200" y="3017520"/>
            <a:ext cx="2651760" cy="64008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D4D3D9"/>
            </a:solidFill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056" name="Step 1"/>
          <p:cNvSpPr/>
          <p:nvPr/>
        </p:nvSpPr>
        <p:spPr>
          <a:xfrm>
            <a:off x="594360" y="3154680"/>
            <a:ext cx="365760" cy="365760"/>
          </a:xfrm>
          <a:prstGeom prst="ellipse">
            <a:avLst/>
          </a:prstGeom>
          <a:solidFill>
            <a:srgbClr val="57A7B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 xml:space="preserve">1</a:t>
            </a:r>
          </a:p>
        </p:txBody>
      </p:sp>
      <p:sp>
        <p:nvSpPr>
          <p:cNvPr id="1057" name="Report item 1 text"/>
          <p:cNvSpPr txBox="1"/>
          <p:nvPr/>
        </p:nvSpPr>
        <p:spPr>
          <a:xfrm>
            <a:off x="1097280" y="3108960"/>
            <a:ext cx="18745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b="1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 xml:space="preserve">Paragraph(s)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US" sz="1100">
                <a:solidFill>
                  <a:srgbClr val="4F4F5C"/>
                </a:solidFill>
                <a:latin typeface="Calibri"/>
                <a:ea typeface="Calibri"/>
                <a:cs typeface="Calibri"/>
                <a:sym typeface="Calibri"/>
              </a:rPr>
              <a:t xml:space="preserve">written by you, from a template</a:t>
            </a:r>
          </a:p>
        </p:txBody>
      </p:sp>
      <p:sp>
        <p:nvSpPr>
          <p:cNvPr id="1058" name="Report item 2"/>
          <p:cNvSpPr/>
          <p:nvPr/>
        </p:nvSpPr>
        <p:spPr>
          <a:xfrm>
            <a:off x="3246120" y="3017520"/>
            <a:ext cx="2651760" cy="64008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D4D3D9"/>
            </a:solidFill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059" name="Step 2"/>
          <p:cNvSpPr/>
          <p:nvPr/>
        </p:nvSpPr>
        <p:spPr>
          <a:xfrm>
            <a:off x="3383280" y="3154680"/>
            <a:ext cx="365760" cy="365760"/>
          </a:xfrm>
          <a:prstGeom prst="ellipse">
            <a:avLst/>
          </a:prstGeom>
          <a:solidFill>
            <a:srgbClr val="57A7B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 xml:space="preserve">2</a:t>
            </a:r>
          </a:p>
        </p:txBody>
      </p:sp>
      <p:sp>
        <p:nvSpPr>
          <p:cNvPr id="1060" name="Report item 2 text"/>
          <p:cNvSpPr txBox="1"/>
          <p:nvPr/>
        </p:nvSpPr>
        <p:spPr>
          <a:xfrm>
            <a:off x="3886200" y="3108960"/>
            <a:ext cx="18745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b="1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 xml:space="preserve">Meta-analysis note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US" sz="1100">
                <a:solidFill>
                  <a:srgbClr val="4F4F5C"/>
                </a:solidFill>
                <a:latin typeface="Calibri"/>
                <a:ea typeface="Calibri"/>
                <a:cs typeface="Calibri"/>
                <a:sym typeface="Calibri"/>
              </a:rPr>
              <a:t xml:space="preserve">2-3 sentences</a:t>
            </a:r>
          </a:p>
        </p:txBody>
      </p:sp>
      <p:sp>
        <p:nvSpPr>
          <p:cNvPr id="1061" name="Report item 3"/>
          <p:cNvSpPr/>
          <p:nvPr/>
        </p:nvSpPr>
        <p:spPr>
          <a:xfrm>
            <a:off x="6035040" y="3017520"/>
            <a:ext cx="2651760" cy="64008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D4D3D9"/>
            </a:solidFill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062" name="Step 3"/>
          <p:cNvSpPr/>
          <p:nvPr/>
        </p:nvSpPr>
        <p:spPr>
          <a:xfrm>
            <a:off x="6172200" y="3154680"/>
            <a:ext cx="365760" cy="365760"/>
          </a:xfrm>
          <a:prstGeom prst="ellipse">
            <a:avLst/>
          </a:prstGeom>
          <a:solidFill>
            <a:srgbClr val="57A7B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 xml:space="preserve">3</a:t>
            </a:r>
          </a:p>
        </p:txBody>
      </p:sp>
      <p:sp>
        <p:nvSpPr>
          <p:cNvPr id="1063" name="Report item 3 text"/>
          <p:cNvSpPr txBox="1"/>
          <p:nvPr/>
        </p:nvSpPr>
        <p:spPr>
          <a:xfrm>
            <a:off x="6675120" y="3108960"/>
            <a:ext cx="18745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b="1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 xml:space="preserve">AI-use statement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US" sz="1100">
                <a:solidFill>
                  <a:srgbClr val="4F4F5C"/>
                </a:solidFill>
                <a:latin typeface="Calibri"/>
                <a:ea typeface="Calibri"/>
                <a:cs typeface="Calibri"/>
                <a:sym typeface="Calibri"/>
              </a:rPr>
              <a:t xml:space="preserve">tool, task, what you checked</a:t>
            </a:r>
          </a:p>
        </p:txBody>
      </p:sp>
      <p:sp>
        <p:nvSpPr>
          <p:cNvPr id="1064" name="Report item 4"/>
          <p:cNvSpPr/>
          <p:nvPr/>
        </p:nvSpPr>
        <p:spPr>
          <a:xfrm>
            <a:off x="457200" y="3767328"/>
            <a:ext cx="2651760" cy="64008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D4D3D9"/>
            </a:solidFill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065" name="Step 4"/>
          <p:cNvSpPr/>
          <p:nvPr/>
        </p:nvSpPr>
        <p:spPr>
          <a:xfrm>
            <a:off x="594360" y="3904488"/>
            <a:ext cx="365760" cy="365760"/>
          </a:xfrm>
          <a:prstGeom prst="ellipse">
            <a:avLst/>
          </a:prstGeom>
          <a:solidFill>
            <a:srgbClr val="57A7B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 xml:space="preserve">4</a:t>
            </a:r>
          </a:p>
        </p:txBody>
      </p:sp>
      <p:sp>
        <p:nvSpPr>
          <p:cNvPr id="1066" name="Report item 4 text"/>
          <p:cNvSpPr txBox="1"/>
          <p:nvPr/>
        </p:nvSpPr>
        <p:spPr>
          <a:xfrm>
            <a:off x="1097280" y="3858768"/>
            <a:ext cx="18745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b="1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 xml:space="preserve">Figure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US" sz="1100">
                <a:solidFill>
                  <a:srgbClr val="4F4F5C"/>
                </a:solidFill>
                <a:latin typeface="Calibri"/>
                <a:ea typeface="Calibri"/>
                <a:cs typeface="Calibri"/>
                <a:sym typeface="Calibri"/>
              </a:rPr>
              <a:t xml:space="preserve">from Gemini Notebook</a:t>
            </a:r>
          </a:p>
        </p:txBody>
      </p:sp>
      <p:sp>
        <p:nvSpPr>
          <p:cNvPr id="1067" name="Report item 5"/>
          <p:cNvSpPr/>
          <p:nvPr/>
        </p:nvSpPr>
        <p:spPr>
          <a:xfrm>
            <a:off x="3246120" y="3767328"/>
            <a:ext cx="2651760" cy="64008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D4D3D9"/>
            </a:solidFill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068" name="Step 5"/>
          <p:cNvSpPr/>
          <p:nvPr/>
        </p:nvSpPr>
        <p:spPr>
          <a:xfrm>
            <a:off x="3383280" y="3904488"/>
            <a:ext cx="365760" cy="365760"/>
          </a:xfrm>
          <a:prstGeom prst="ellipse">
            <a:avLst/>
          </a:prstGeom>
          <a:solidFill>
            <a:srgbClr val="57A7B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 xml:space="preserve">5</a:t>
            </a:r>
          </a:p>
        </p:txBody>
      </p:sp>
      <p:sp>
        <p:nvSpPr>
          <p:cNvPr id="1069" name="Report item 5 text"/>
          <p:cNvSpPr txBox="1"/>
          <p:nvPr/>
        </p:nvSpPr>
        <p:spPr>
          <a:xfrm>
            <a:off x="3886200" y="3858768"/>
            <a:ext cx="18745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b="1">
                <a:solidFill>
                  <a:srgbClr val="202934"/>
                </a:solidFill>
                <a:latin typeface="Calibri"/>
                <a:ea typeface="Calibri"/>
                <a:cs typeface="Calibri"/>
                <a:sym typeface="Calibri"/>
              </a:rPr>
              <a:t xml:space="preserve">Appendix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US" sz="1100">
                <a:solidFill>
                  <a:srgbClr val="4F4F5C"/>
                </a:solidFill>
                <a:latin typeface="Calibri"/>
                <a:ea typeface="Calibri"/>
                <a:cs typeface="Calibri"/>
                <a:sym typeface="Calibri"/>
              </a:rPr>
              <a:t xml:space="preserve">the extraction table</a:t>
            </a:r>
          </a:p>
        </p:txBody>
      </p:sp>
      <p:sp>
        <p:nvSpPr>
          <p:cNvPr id="1070" name="Own PDFs note"/>
          <p:cNvSpPr txBox="1"/>
          <p:nvPr/>
        </p:nvSpPr>
        <p:spPr>
          <a:xfrm>
            <a:off x="6035040" y="3813048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i="1">
                <a:solidFill>
                  <a:srgbClr val="4F4F5C"/>
                </a:solidFill>
                <a:latin typeface="Calibri"/>
                <a:ea typeface="Calibri"/>
                <a:cs typeface="Calibri"/>
                <a:sym typeface="Calibri"/>
              </a:rPr>
              <a:t xml:space="preserve">Own PDFs? Table and figure are enough.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E5769"/>
      </a:accent1>
      <a:accent2>
        <a:srgbClr val="57A7B3"/>
      </a:accent2>
      <a:accent3>
        <a:srgbClr val="A5A5A5"/>
      </a:accent3>
      <a:accent4>
        <a:srgbClr val="97A6C7"/>
      </a:accent4>
      <a:accent5>
        <a:srgbClr val="5B9BD5"/>
      </a:accent5>
      <a:accent6>
        <a:srgbClr val="A3B4C0"/>
      </a:accent6>
      <a:hlink>
        <a:srgbClr val="57A7B3"/>
      </a:hlink>
      <a:folHlink>
        <a:srgbClr val="A3B4C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