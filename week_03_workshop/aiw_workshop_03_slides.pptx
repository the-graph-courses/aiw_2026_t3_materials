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71" r:id="rId10"/>
    <p:sldId id="272" r:id="rId11"/>
    <p:sldId id="284" r:id="rId12"/>
    <p:sldId id="266" r:id="rId13"/>
    <p:sldId id="267" r:id="rId14"/>
    <p:sldId id="273" r:id="rId15"/>
    <p:sldId id="287" r:id="rId16"/>
    <p:sldId id="270" r:id="rId17"/>
    <p:sldId id="275" r:id="rId18"/>
    <p:sldId id="276" r:id="rId19"/>
    <p:sldId id="277" r:id="rId20"/>
    <p:sldId id="278" r:id="rId21"/>
    <p:sldId id="279" r:id="rId22"/>
    <p:sldId id="268" r:id="rId23"/>
    <p:sldId id="269" r:id="rId24"/>
    <p:sldId id="280" r:id="rId25"/>
    <p:sldId id="281" r:id="rId26"/>
    <p:sldId id="282" r:id="rId27"/>
    <p:sldId id="283" r:id="rId28"/>
  </p:sldIdLst>
  <p:sldSz cx="9144000" cy="5143500" type="screen16x9"/>
  <p:notesSz cx="6858000" cy="9144000"/>
  <p:embeddedFontLst>
    <p:embeddedFont>
      <p:font typeface="Avenir" panose="02000503020000020003" pitchFamily="2" charset="0"/>
      <p:regular r:id="rId30"/>
      <p:italic r:id="rId31"/>
    </p:embeddedFont>
    <p:embeddedFont>
      <p:font typeface="Nunito Sans" pitchFamily="2" charset="77"/>
      <p:regular r:id="rId32"/>
      <p:bold r:id="rId33"/>
      <p:italic r:id="rId34"/>
      <p:boldItalic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8" roundtripDataSignature="AMtx7mhaQnL0o+uMDr0r39AkH4RJvc1T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54" d="100"/>
          <a:sy n="154" d="100"/>
        </p:scale>
        <p:origin x="888" y="19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font" Target="fonts/font5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38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font" Target="fonts/font6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bfd23b172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" name="Google Shape;64;g3bfd23b172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b="1"/>
              <a:t>Camille</a:t>
            </a:r>
            <a:endParaRPr b="1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bfd23b1720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0" name="Google Shape;70;g3bfd23b1720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b="1"/>
              <a:t>Camille</a:t>
            </a:r>
            <a:endParaRPr b="1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7" name="Google Shape;7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b="1"/>
              <a:t>Camille</a:t>
            </a:r>
            <a:endParaRPr b="1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2286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AutoNum type="arabicPeriod"/>
            </a:pPr>
            <a:r>
              <a:rPr lang="en-US"/>
              <a:t>Welcome and intro: Say hello, we’re excited to have everyone. Introduce TGC people (Kene, Joy, Zachary, Sara, Olivia, etc.), words from Olivia, mission/goals – </a:t>
            </a:r>
            <a:r>
              <a:rPr lang="en-US" b="1"/>
              <a:t>Joy/Kene/Olivia</a:t>
            </a:r>
            <a:endParaRPr/>
          </a:p>
          <a:p>
            <a:pPr marL="2286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AutoNum type="arabicPeriod"/>
            </a:pPr>
            <a:r>
              <a:rPr lang="en-US"/>
              <a:t>Cosmos practice: Update last year’s slides - </a:t>
            </a:r>
            <a:r>
              <a:rPr lang="en-US" b="1"/>
              <a:t>Joy</a:t>
            </a:r>
            <a:endParaRPr/>
          </a:p>
          <a:p>
            <a:pPr marL="2286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AutoNum type="arabicPeriod"/>
            </a:pPr>
            <a:r>
              <a:rPr lang="en-US"/>
              <a:t>Icebreakers: Games/activities: TBD – </a:t>
            </a:r>
            <a:r>
              <a:rPr lang="en-US" b="1"/>
              <a:t>Joy</a:t>
            </a:r>
            <a:endParaRPr/>
          </a:p>
          <a:p>
            <a:pPr marL="2286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AutoNum type="arabicPeriod"/>
            </a:pPr>
            <a:r>
              <a:rPr lang="en-US" b="0"/>
              <a:t>Course overview: syllabus (basically walk thru learning journey figure from brochure) – </a:t>
            </a:r>
            <a:r>
              <a:rPr lang="en-US" b="1"/>
              <a:t>Kene</a:t>
            </a:r>
            <a:endParaRPr/>
          </a:p>
          <a:p>
            <a:pPr marL="2286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AutoNum type="arabicPeriod"/>
            </a:pPr>
            <a:r>
              <a:rPr lang="en-US" b="0"/>
              <a:t>Course navigation: screen share TGC website, walk through navigating to the course pages, explain new content will be uploaded each week – </a:t>
            </a:r>
            <a:r>
              <a:rPr lang="en-US" b="1"/>
              <a:t>Joy</a:t>
            </a:r>
            <a:endParaRPr/>
          </a:p>
          <a:p>
            <a:pPr marL="2286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AutoNum type="arabicPeriod"/>
            </a:pPr>
            <a:r>
              <a:rPr lang="en-US" b="0"/>
              <a:t>Expectations and policies: assessments/grading, attendance policy, code of conduct – </a:t>
            </a:r>
            <a:r>
              <a:rPr lang="en-US" b="1"/>
              <a:t>Kene</a:t>
            </a:r>
            <a:endParaRPr/>
          </a:p>
          <a:p>
            <a:pPr marL="2286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AutoNum type="arabicPeriod"/>
            </a:pPr>
            <a:r>
              <a:rPr lang="en-US" b="0"/>
              <a:t>Intro to Discord – </a:t>
            </a:r>
            <a:r>
              <a:rPr lang="en-US" b="1"/>
              <a:t>Kene</a:t>
            </a:r>
            <a:endParaRPr/>
          </a:p>
          <a:p>
            <a:pPr marL="2286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AutoNum type="arabicPeriod"/>
            </a:pPr>
            <a:r>
              <a:rPr lang="en-US" b="0"/>
              <a:t>Final announcements: next workshop material, calendar invites, general reminders, etc.</a:t>
            </a:r>
            <a:endParaRPr/>
          </a:p>
          <a:p>
            <a:pPr marL="228600" lvl="0" indent="-158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</a:pPr>
            <a:endParaRPr b="0"/>
          </a:p>
          <a:p>
            <a:pPr marL="228600" lvl="0" indent="-158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</a:pPr>
            <a:endParaRPr b="0"/>
          </a:p>
          <a:p>
            <a:pPr marL="228600" lvl="0" indent="-158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</a:pPr>
            <a:endParaRPr b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p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b="1"/>
              <a:t>Sabina</a:t>
            </a:r>
            <a:endParaRPr b="1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5215968463_2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g35215968463_2_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>
              <a:solidFill>
                <a:srgbClr val="17161C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8" name="Google Shape;108;g35215968463_2_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258933c432d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9" name="Google Shape;119;g258933c432d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b="1"/>
              <a:t>Sabina</a:t>
            </a:r>
            <a:endParaRPr b="1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5954a240fe_1_2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5" name="Google Shape;125;g35954a240fe_1_2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b="1">
                <a:solidFill>
                  <a:schemeClr val="dk1"/>
                </a:solidFill>
              </a:rPr>
              <a:t>Kene</a:t>
            </a:r>
            <a:endParaRPr/>
          </a:p>
        </p:txBody>
      </p:sp>
      <p:sp>
        <p:nvSpPr>
          <p:cNvPr id="126" name="Google Shape;126;g35954a240fe_1_25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854c283ccb_0_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9" name="Google Shape;139;g3854c283ccb_0_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b="1">
                <a:solidFill>
                  <a:schemeClr val="dk1"/>
                </a:solidFill>
              </a:rPr>
              <a:t>Kene</a:t>
            </a:r>
            <a:endParaRPr/>
          </a:p>
        </p:txBody>
      </p:sp>
      <p:sp>
        <p:nvSpPr>
          <p:cNvPr id="140" name="Google Shape;140;g3854c283ccb_0_7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9d39d9a122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5" name="Google Shape;205;g39d39d9a122_0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b="1"/>
              <a:t>Sabina</a:t>
            </a:r>
            <a:endParaRPr b="1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5caa9fba86_0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1" name="Google Shape;211;g35caa9fba86_0_1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b="1">
                <a:solidFill>
                  <a:schemeClr val="dk1"/>
                </a:solidFill>
              </a:rPr>
              <a:t>Kene</a:t>
            </a:r>
            <a:endParaRPr/>
          </a:p>
        </p:txBody>
      </p:sp>
      <p:sp>
        <p:nvSpPr>
          <p:cNvPr id="212" name="Google Shape;212;g35caa9fba86_0_12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10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2ca0348706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6" name="Google Shape;156;g2ca0348706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Camille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2ca0348706c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4" name="Google Shape;164;g2ca0348706c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Camille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5caa9fba86_0_1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1" name="Google Shape;221;g35caa9fba86_0_1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b="1"/>
              <a:t>Sabina</a:t>
            </a:r>
            <a:endParaRPr b="1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5caa9fba86_0_2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7" name="Google Shape;187;g35caa9fba86_0_2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b="1"/>
              <a:t>Sabina</a:t>
            </a:r>
            <a:endParaRPr b="1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e9ee578634_0_1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8" name="Google Shape;238;g3e9ee578634_0_1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b="1"/>
              <a:t>Sabina</a:t>
            </a:r>
            <a:endParaRPr b="1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39d39d9a122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8" name="Google Shape;248;g39d39d9a122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b="1">
                <a:solidFill>
                  <a:schemeClr val="dk1"/>
                </a:solidFill>
              </a:rPr>
              <a:t>Kene</a:t>
            </a:r>
            <a:endParaRPr/>
          </a:p>
        </p:txBody>
      </p:sp>
      <p:sp>
        <p:nvSpPr>
          <p:cNvPr id="249" name="Google Shape;249;g39d39d9a122_0_1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18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9d39d9a122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8" name="Google Shape;258;g39d39d9a122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b="1">
                <a:solidFill>
                  <a:schemeClr val="dk1"/>
                </a:solidFill>
              </a:rPr>
              <a:t>Kene</a:t>
            </a:r>
            <a:endParaRPr/>
          </a:p>
        </p:txBody>
      </p:sp>
      <p:sp>
        <p:nvSpPr>
          <p:cNvPr id="259" name="Google Shape;259;g39d39d9a122_0_3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19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39d39d9a122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6" name="Google Shape;266;g39d39d9a122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b="1">
                <a:solidFill>
                  <a:schemeClr val="dk1"/>
                </a:solidFill>
              </a:rPr>
              <a:t>Kene</a:t>
            </a:r>
            <a:endParaRPr/>
          </a:p>
        </p:txBody>
      </p:sp>
      <p:sp>
        <p:nvSpPr>
          <p:cNvPr id="267" name="Google Shape;267;g39d39d9a122_0_4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20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39d39d9a122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4" name="Google Shape;274;g39d39d9a122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b="1">
                <a:solidFill>
                  <a:schemeClr val="dk1"/>
                </a:solidFill>
              </a:rPr>
              <a:t>Kene</a:t>
            </a:r>
            <a:endParaRPr/>
          </a:p>
        </p:txBody>
      </p:sp>
      <p:sp>
        <p:nvSpPr>
          <p:cNvPr id="275" name="Google Shape;275;g39d39d9a122_0_4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9d39d9a122_0_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0" name="Google Shape;170;g39d39d9a122_0_1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b="1"/>
              <a:t>Sabina</a:t>
            </a:r>
            <a:endParaRPr b="1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e9ee578634_0_1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8" name="Google Shape;178;g3e9ee578634_0_1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b="1"/>
              <a:t>Sabina</a:t>
            </a:r>
            <a:endParaRPr b="1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5caa9fba86_0_2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3" name="Google Shape;283;g35caa9fba86_0_2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Camille</a:t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854db5e08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9" name="Google Shape;289;g3854db5e08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b="1"/>
              <a:t>Sabina</a:t>
            </a:r>
            <a:endParaRPr b="1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5caa9fba86_0_2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0" name="Google Shape;300;g35caa9fba86_0_2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US">
                <a:solidFill>
                  <a:srgbClr val="17161C"/>
                </a:solidFill>
                <a:latin typeface="Avenir"/>
                <a:ea typeface="Avenir"/>
                <a:cs typeface="Avenir"/>
                <a:sym typeface="Avenir"/>
              </a:rPr>
              <a:t>Camille</a:t>
            </a:r>
            <a:endParaRPr>
              <a:solidFill>
                <a:srgbClr val="17161C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01" name="Google Shape;301;g35caa9fba86_0_2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26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5caa9fba86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0" name="Google Shape;310;g35caa9fba86_0_20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US">
                <a:solidFill>
                  <a:srgbClr val="17161C"/>
                </a:solidFill>
                <a:latin typeface="Avenir"/>
                <a:ea typeface="Avenir"/>
                <a:cs typeface="Avenir"/>
                <a:sym typeface="Avenir"/>
              </a:rPr>
              <a:t>Camille</a:t>
            </a:r>
            <a:endParaRPr>
              <a:solidFill>
                <a:srgbClr val="17161C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11" name="Google Shape;311;g35caa9fba86_0_20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27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9"/>
          <p:cNvSpPr txBox="1">
            <a:spLocks noGrp="1"/>
          </p:cNvSpPr>
          <p:nvPr>
            <p:ph type="ctrTitle"/>
          </p:nvPr>
        </p:nvSpPr>
        <p:spPr>
          <a:xfrm>
            <a:off x="1143000" y="1316728"/>
            <a:ext cx="6858000" cy="13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sp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02934"/>
              </a:buClr>
              <a:buSzPts val="4500"/>
              <a:buFont typeface="Calibri"/>
              <a:buNone/>
              <a:defRPr sz="4500">
                <a:solidFill>
                  <a:srgbClr val="202934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9"/>
          <p:cNvSpPr txBox="1">
            <a:spLocks noGrp="1"/>
          </p:cNvSpPr>
          <p:nvPr>
            <p:ph type="subTitle" idx="1"/>
          </p:nvPr>
        </p:nvSpPr>
        <p:spPr>
          <a:xfrm>
            <a:off x="1143000" y="2701529"/>
            <a:ext cx="6858000" cy="31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>
            <a:lvl1pPr marR="0" lvl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02934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02934"/>
              </a:buClr>
              <a:buSzPts val="1500"/>
              <a:buFont typeface="Arial"/>
              <a:buNone/>
              <a:defRPr sz="1500" b="0" i="0" u="none" strike="noStrike" cap="none">
                <a:solidFill>
                  <a:srgbClr val="202934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R="0" lvl="2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02934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202934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R="0" lvl="3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02934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02934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R="0" lvl="4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02934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202934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R="0" lvl="5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2" name="Google Shape;22;p49"/>
          <p:cNvSpPr txBox="1"/>
          <p:nvPr/>
        </p:nvSpPr>
        <p:spPr>
          <a:xfrm>
            <a:off x="3253740" y="-15240"/>
            <a:ext cx="1386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8"/>
          <p:cNvSpPr txBox="1">
            <a:spLocks noGrp="1"/>
          </p:cNvSpPr>
          <p:nvPr>
            <p:ph type="body" idx="1"/>
          </p:nvPr>
        </p:nvSpPr>
        <p:spPr>
          <a:xfrm>
            <a:off x="237839" y="593822"/>
            <a:ext cx="8635800" cy="13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02934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02934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02934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02934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02934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5" name="Google Shape;25;p48"/>
          <p:cNvSpPr txBox="1">
            <a:spLocks noGrp="1"/>
          </p:cNvSpPr>
          <p:nvPr>
            <p:ph type="title"/>
          </p:nvPr>
        </p:nvSpPr>
        <p:spPr>
          <a:xfrm>
            <a:off x="237839" y="110751"/>
            <a:ext cx="43341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02934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 graphics">
  <p:cSld name="No graphics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6"/>
          <p:cNvSpPr txBox="1">
            <a:spLocks noGrp="1"/>
          </p:cNvSpPr>
          <p:nvPr>
            <p:ph type="title"/>
          </p:nvPr>
        </p:nvSpPr>
        <p:spPr>
          <a:xfrm>
            <a:off x="237839" y="89977"/>
            <a:ext cx="49437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02934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and Content">
  <p:cSld name="2_Title and Conten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2"/>
          <p:cNvSpPr txBox="1">
            <a:spLocks noGrp="1"/>
          </p:cNvSpPr>
          <p:nvPr>
            <p:ph type="body" idx="1"/>
          </p:nvPr>
        </p:nvSpPr>
        <p:spPr>
          <a:xfrm>
            <a:off x="237838" y="845282"/>
            <a:ext cx="8635745" cy="11695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0" name="Google Shape;30;p52"/>
          <p:cNvSpPr txBox="1">
            <a:spLocks noGrp="1"/>
          </p:cNvSpPr>
          <p:nvPr>
            <p:ph type="title"/>
          </p:nvPr>
        </p:nvSpPr>
        <p:spPr>
          <a:xfrm>
            <a:off x="237838" y="78435"/>
            <a:ext cx="4334162" cy="4247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3"/>
          <p:cNvSpPr txBox="1">
            <a:spLocks noGrp="1"/>
          </p:cNvSpPr>
          <p:nvPr>
            <p:ph type="title"/>
          </p:nvPr>
        </p:nvSpPr>
        <p:spPr>
          <a:xfrm>
            <a:off x="237839" y="89977"/>
            <a:ext cx="49437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02934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">
  <p:cSld name="1_Title and Conten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g258933c432d_1_90"/>
          <p:cNvSpPr txBox="1">
            <a:spLocks noGrp="1"/>
          </p:cNvSpPr>
          <p:nvPr>
            <p:ph type="body" idx="1"/>
          </p:nvPr>
        </p:nvSpPr>
        <p:spPr>
          <a:xfrm>
            <a:off x="237839" y="593822"/>
            <a:ext cx="8635800" cy="44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25700" rIns="51425" bIns="25700" anchor="t" anchorCtr="0">
            <a:sp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02934"/>
              </a:buClr>
              <a:buSzPts val="1600"/>
              <a:buFont typeface="Arial"/>
              <a:buChar char="•"/>
              <a:defRPr sz="2100" b="0" i="0" u="none" strike="noStrike" cap="none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02934"/>
              </a:buClr>
              <a:buSzPts val="1400"/>
              <a:buFont typeface="Arial"/>
              <a:buChar char="•"/>
              <a:defRPr sz="1800" b="0" i="0" u="none" strike="noStrike" cap="none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984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02934"/>
              </a:buClr>
              <a:buSzPts val="1100"/>
              <a:buFont typeface="Arial"/>
              <a:buChar char="•"/>
              <a:defRPr sz="1500" b="0" i="0" u="none" strike="noStrike" cap="none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984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02934"/>
              </a:buClr>
              <a:buSzPts val="1100"/>
              <a:buFont typeface="Arial"/>
              <a:buChar char="•"/>
              <a:defRPr sz="1400" b="0" i="0" u="none" strike="noStrike" cap="none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984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202934"/>
              </a:buClr>
              <a:buSzPts val="1100"/>
              <a:buFont typeface="Arial"/>
              <a:buChar char="•"/>
              <a:defRPr sz="1400" b="0" i="0" u="none" strike="noStrike" cap="none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984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5" name="Google Shape;35;g258933c432d_1_90"/>
          <p:cNvSpPr txBox="1">
            <a:spLocks noGrp="1"/>
          </p:cNvSpPr>
          <p:nvPr>
            <p:ph type="title"/>
          </p:nvPr>
        </p:nvSpPr>
        <p:spPr>
          <a:xfrm>
            <a:off x="237839" y="98594"/>
            <a:ext cx="4334100" cy="38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25700" rIns="51425" bIns="25700" anchor="ctr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02934"/>
              </a:buClr>
              <a:buSzPts val="11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No graphics">
  <p:cSld name="1_No graphic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50"/>
          <p:cNvSpPr txBox="1">
            <a:spLocks noGrp="1"/>
          </p:cNvSpPr>
          <p:nvPr>
            <p:ph type="title"/>
          </p:nvPr>
        </p:nvSpPr>
        <p:spPr>
          <a:xfrm>
            <a:off x="237839" y="89977"/>
            <a:ext cx="49437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Content">
  <p:cSld name="2_Conten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g308959b4f3b_0_574"/>
          <p:cNvSpPr txBox="1">
            <a:spLocks noGrp="1"/>
          </p:cNvSpPr>
          <p:nvPr>
            <p:ph type="title"/>
          </p:nvPr>
        </p:nvSpPr>
        <p:spPr>
          <a:xfrm>
            <a:off x="238125" y="110728"/>
            <a:ext cx="4056600" cy="35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Title and Content">
  <p:cSld name="3_Title and Conten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54"/>
          <p:cNvSpPr txBox="1">
            <a:spLocks noGrp="1"/>
          </p:cNvSpPr>
          <p:nvPr>
            <p:ph type="body" idx="1"/>
          </p:nvPr>
        </p:nvSpPr>
        <p:spPr>
          <a:xfrm>
            <a:off x="237838" y="593822"/>
            <a:ext cx="8635745" cy="11695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2" name="Google Shape;42;p54"/>
          <p:cNvSpPr txBox="1">
            <a:spLocks noGrp="1"/>
          </p:cNvSpPr>
          <p:nvPr>
            <p:ph type="title"/>
          </p:nvPr>
        </p:nvSpPr>
        <p:spPr>
          <a:xfrm>
            <a:off x="237838" y="78435"/>
            <a:ext cx="4334162" cy="4247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 type="obj">
  <p:cSld name="OBJEC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51"/>
          <p:cNvSpPr txBox="1">
            <a:spLocks noGrp="1"/>
          </p:cNvSpPr>
          <p:nvPr>
            <p:ph type="title"/>
          </p:nvPr>
        </p:nvSpPr>
        <p:spPr>
          <a:xfrm>
            <a:off x="237839" y="89977"/>
            <a:ext cx="49437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51"/>
          <p:cNvSpPr txBox="1">
            <a:spLocks noGrp="1"/>
          </p:cNvSpPr>
          <p:nvPr>
            <p:ph type="body" idx="1"/>
          </p:nvPr>
        </p:nvSpPr>
        <p:spPr>
          <a:xfrm>
            <a:off x="619885" y="2033982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6" name="Google Shape;46;p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7" name="Google Shape;47;p51"/>
          <p:cNvSpPr txBox="1">
            <a:spLocks noGrp="1"/>
          </p:cNvSpPr>
          <p:nvPr>
            <p:ph type="ftr" idx="11"/>
          </p:nvPr>
        </p:nvSpPr>
        <p:spPr>
          <a:xfrm>
            <a:off x="3028950" y="4548480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8" name="Google Shape;48;p51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2 master">
  <p:cSld name="Slide 2 master">
    <p:bg>
      <p:bgPr>
        <a:solidFill>
          <a:srgbClr val="000000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5caa9fba86_0_10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spcFirstLastPara="1" wrap="square" lIns="57150" tIns="57150" rIns="57150" bIns="571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g35caa9fba86_0_10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57150" tIns="57150" rIns="57150" bIns="571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3 master">
  <p:cSld name="Slide 3 master">
    <p:bg>
      <p:bgPr>
        <a:solidFill>
          <a:srgbClr val="000000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5caa9fba86_0_10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spcFirstLastPara="1" wrap="square" lIns="57150" tIns="57150" rIns="57150" bIns="571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g35caa9fba86_0_10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57150" tIns="57150" rIns="57150" bIns="571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4 master">
  <p:cSld name="Slide 4 master">
    <p:bg>
      <p:bgPr>
        <a:solidFill>
          <a:srgbClr val="000000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5caa9fba86_0_10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spcFirstLastPara="1" wrap="square" lIns="57150" tIns="57150" rIns="57150" bIns="571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g35caa9fba86_0_10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57150" tIns="57150" rIns="57150" bIns="571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5 master">
  <p:cSld name="Slide 5 master">
    <p:bg>
      <p:bgPr>
        <a:solidFill>
          <a:srgbClr val="000000"/>
        </a:solid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5caa9fba86_0_20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spcFirstLastPara="1" wrap="square" lIns="57150" tIns="57150" rIns="57150" bIns="571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g35caa9fba86_0_20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57150" tIns="57150" rIns="57150" bIns="571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F0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7"/>
          <p:cNvSpPr txBox="1">
            <a:spLocks noGrp="1"/>
          </p:cNvSpPr>
          <p:nvPr>
            <p:ph type="title"/>
          </p:nvPr>
        </p:nvSpPr>
        <p:spPr>
          <a:xfrm>
            <a:off x="237839" y="89977"/>
            <a:ext cx="49437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sp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02934"/>
              </a:buClr>
              <a:buSzPts val="2400"/>
              <a:buFont typeface="Calibri"/>
              <a:buNone/>
              <a:defRPr sz="2400" b="1" i="0" u="none" strike="noStrike" cap="none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cxnSp>
        <p:nvCxnSpPr>
          <p:cNvPr id="7" name="Google Shape;7;p47"/>
          <p:cNvCxnSpPr/>
          <p:nvPr/>
        </p:nvCxnSpPr>
        <p:spPr>
          <a:xfrm>
            <a:off x="-3581" y="5122201"/>
            <a:ext cx="1530000" cy="0"/>
          </a:xfrm>
          <a:prstGeom prst="straightConnector1">
            <a:avLst/>
          </a:prstGeom>
          <a:noFill/>
          <a:ln w="76200" cap="flat" cmpd="sng">
            <a:solidFill>
              <a:srgbClr val="202934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8" name="Google Shape;8;p47"/>
          <p:cNvCxnSpPr/>
          <p:nvPr/>
        </p:nvCxnSpPr>
        <p:spPr>
          <a:xfrm>
            <a:off x="1519226" y="5122201"/>
            <a:ext cx="1530000" cy="0"/>
          </a:xfrm>
          <a:prstGeom prst="straightConnector1">
            <a:avLst/>
          </a:prstGeom>
          <a:noFill/>
          <a:ln w="76200" cap="flat" cmpd="sng">
            <a:solidFill>
              <a:srgbClr val="2E75B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9" name="Google Shape;9;p47"/>
          <p:cNvCxnSpPr/>
          <p:nvPr/>
        </p:nvCxnSpPr>
        <p:spPr>
          <a:xfrm>
            <a:off x="3042034" y="5122201"/>
            <a:ext cx="1530000" cy="0"/>
          </a:xfrm>
          <a:prstGeom prst="straightConnector1">
            <a:avLst/>
          </a:prstGeom>
          <a:noFill/>
          <a:ln w="76200" cap="flat" cmpd="sng">
            <a:solidFill>
              <a:srgbClr val="4EA4AD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" name="Google Shape;10;p47"/>
          <p:cNvCxnSpPr/>
          <p:nvPr/>
        </p:nvCxnSpPr>
        <p:spPr>
          <a:xfrm>
            <a:off x="4564841" y="5122201"/>
            <a:ext cx="1530000" cy="0"/>
          </a:xfrm>
          <a:prstGeom prst="straightConnector1">
            <a:avLst/>
          </a:prstGeom>
          <a:noFill/>
          <a:ln w="76200" cap="flat" cmpd="sng">
            <a:solidFill>
              <a:srgbClr val="202934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1" name="Google Shape;11;p47"/>
          <p:cNvCxnSpPr/>
          <p:nvPr/>
        </p:nvCxnSpPr>
        <p:spPr>
          <a:xfrm>
            <a:off x="6087648" y="5122201"/>
            <a:ext cx="1530000" cy="0"/>
          </a:xfrm>
          <a:prstGeom prst="straightConnector1">
            <a:avLst/>
          </a:prstGeom>
          <a:noFill/>
          <a:ln w="76200" cap="flat" cmpd="sng">
            <a:solidFill>
              <a:srgbClr val="2E75B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2" name="Google Shape;12;p47"/>
          <p:cNvCxnSpPr/>
          <p:nvPr/>
        </p:nvCxnSpPr>
        <p:spPr>
          <a:xfrm>
            <a:off x="7610456" y="5122201"/>
            <a:ext cx="1530000" cy="0"/>
          </a:xfrm>
          <a:prstGeom prst="straightConnector1">
            <a:avLst/>
          </a:prstGeom>
          <a:noFill/>
          <a:ln w="76200" cap="flat" cmpd="sng">
            <a:solidFill>
              <a:srgbClr val="4EA4AD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3" name="Google Shape;13;p47"/>
          <p:cNvCxnSpPr/>
          <p:nvPr/>
        </p:nvCxnSpPr>
        <p:spPr>
          <a:xfrm>
            <a:off x="-3581" y="588"/>
            <a:ext cx="1530000" cy="0"/>
          </a:xfrm>
          <a:prstGeom prst="straightConnector1">
            <a:avLst/>
          </a:prstGeom>
          <a:noFill/>
          <a:ln w="76200" cap="flat" cmpd="sng">
            <a:solidFill>
              <a:srgbClr val="202934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4" name="Google Shape;14;p47"/>
          <p:cNvCxnSpPr/>
          <p:nvPr/>
        </p:nvCxnSpPr>
        <p:spPr>
          <a:xfrm>
            <a:off x="1519226" y="588"/>
            <a:ext cx="1530000" cy="0"/>
          </a:xfrm>
          <a:prstGeom prst="straightConnector1">
            <a:avLst/>
          </a:prstGeom>
          <a:noFill/>
          <a:ln w="76200" cap="flat" cmpd="sng">
            <a:solidFill>
              <a:srgbClr val="2E75B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5" name="Google Shape;15;p47"/>
          <p:cNvCxnSpPr/>
          <p:nvPr/>
        </p:nvCxnSpPr>
        <p:spPr>
          <a:xfrm>
            <a:off x="3042034" y="588"/>
            <a:ext cx="1530000" cy="0"/>
          </a:xfrm>
          <a:prstGeom prst="straightConnector1">
            <a:avLst/>
          </a:prstGeom>
          <a:noFill/>
          <a:ln w="76200" cap="flat" cmpd="sng">
            <a:solidFill>
              <a:srgbClr val="4EA4AD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6" name="Google Shape;16;p47"/>
          <p:cNvCxnSpPr/>
          <p:nvPr/>
        </p:nvCxnSpPr>
        <p:spPr>
          <a:xfrm>
            <a:off x="4564841" y="588"/>
            <a:ext cx="1530000" cy="0"/>
          </a:xfrm>
          <a:prstGeom prst="straightConnector1">
            <a:avLst/>
          </a:prstGeom>
          <a:noFill/>
          <a:ln w="76200" cap="flat" cmpd="sng">
            <a:solidFill>
              <a:srgbClr val="202934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7" name="Google Shape;17;p47"/>
          <p:cNvCxnSpPr/>
          <p:nvPr/>
        </p:nvCxnSpPr>
        <p:spPr>
          <a:xfrm>
            <a:off x="6087648" y="588"/>
            <a:ext cx="1530000" cy="0"/>
          </a:xfrm>
          <a:prstGeom prst="straightConnector1">
            <a:avLst/>
          </a:prstGeom>
          <a:noFill/>
          <a:ln w="76200" cap="flat" cmpd="sng">
            <a:solidFill>
              <a:srgbClr val="2E75B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8" name="Google Shape;18;p47"/>
          <p:cNvCxnSpPr/>
          <p:nvPr/>
        </p:nvCxnSpPr>
        <p:spPr>
          <a:xfrm>
            <a:off x="7610456" y="588"/>
            <a:ext cx="1530000" cy="0"/>
          </a:xfrm>
          <a:prstGeom prst="straightConnector1">
            <a:avLst/>
          </a:prstGeom>
          <a:noFill/>
          <a:ln w="76200" cap="flat" cmpd="sng">
            <a:solidFill>
              <a:srgbClr val="4EA4AD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qGOgr8jCPi74QWvCKRewR7o-kfcxeXmYiidTCmusOmU/edit?usp=sharing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://thegraphcourses.org/courses/ai-llm-automations-with-python/topics/using-the-openai-llm-api-with-python/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jp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6.jp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bfd23b1720_0_0"/>
          <p:cNvSpPr txBox="1">
            <a:spLocks noGrp="1"/>
          </p:cNvSpPr>
          <p:nvPr>
            <p:ph type="ctrTitle"/>
          </p:nvPr>
        </p:nvSpPr>
        <p:spPr>
          <a:xfrm>
            <a:off x="1143000" y="275828"/>
            <a:ext cx="6858000" cy="69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en-US"/>
              <a:t>Help Session Note</a:t>
            </a:r>
            <a:endParaRPr/>
          </a:p>
        </p:txBody>
      </p:sp>
      <p:sp>
        <p:nvSpPr>
          <p:cNvPr id="67" name="Google Shape;67;g3bfd23b1720_0_0"/>
          <p:cNvSpPr txBox="1">
            <a:spLocks noGrp="1"/>
          </p:cNvSpPr>
          <p:nvPr>
            <p:ph type="subTitle" idx="1"/>
          </p:nvPr>
        </p:nvSpPr>
        <p:spPr>
          <a:xfrm>
            <a:off x="1060100" y="1119754"/>
            <a:ext cx="6858000" cy="29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</a:pPr>
            <a:r>
              <a:rPr lang="en-US" sz="2500"/>
              <a:t>Welcome to the Help Session</a:t>
            </a:r>
            <a:endParaRPr sz="2500"/>
          </a:p>
          <a:p>
            <a:pPr marL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</a:pPr>
            <a:endParaRPr sz="2500"/>
          </a:p>
          <a:p>
            <a:pPr marL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</a:pPr>
            <a:r>
              <a:rPr lang="en-US" sz="2500"/>
              <a:t>The session runs for one hour before each workshop. </a:t>
            </a:r>
            <a:endParaRPr sz="2500"/>
          </a:p>
          <a:p>
            <a:pPr marL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</a:pPr>
            <a:endParaRPr sz="2500"/>
          </a:p>
          <a:p>
            <a:pPr marL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</a:pPr>
            <a:r>
              <a:rPr lang="en-US" sz="2500"/>
              <a:t>If you have any questions, please do raise your hand or speak up and I will be with you shortly.</a:t>
            </a:r>
            <a:endParaRPr sz="25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bfd23b1720_0_5"/>
          <p:cNvSpPr txBox="1">
            <a:spLocks noGrp="1"/>
          </p:cNvSpPr>
          <p:nvPr>
            <p:ph type="ctrTitle"/>
          </p:nvPr>
        </p:nvSpPr>
        <p:spPr>
          <a:xfrm>
            <a:off x="1143000" y="3072403"/>
            <a:ext cx="6858000" cy="131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en-US"/>
              <a:t>Generative AI for Work &amp; Research</a:t>
            </a:r>
            <a:endParaRPr/>
          </a:p>
        </p:txBody>
      </p:sp>
      <p:pic>
        <p:nvPicPr>
          <p:cNvPr id="73" name="Google Shape;73;g3bfd23b1720_0_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93330" y="650837"/>
            <a:ext cx="3389944" cy="2475354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g3bfd23b1720_0_5"/>
          <p:cNvSpPr txBox="1">
            <a:spLocks noGrp="1"/>
          </p:cNvSpPr>
          <p:nvPr>
            <p:ph type="subTitle" idx="1"/>
          </p:nvPr>
        </p:nvSpPr>
        <p:spPr>
          <a:xfrm>
            <a:off x="1213650" y="4673554"/>
            <a:ext cx="68580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</a:pPr>
            <a:r>
              <a:rPr lang="en-US" sz="2500"/>
              <a:t>We’ll get started in a few minutes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"/>
          <p:cNvSpPr txBox="1">
            <a:spLocks noGrp="1"/>
          </p:cNvSpPr>
          <p:nvPr>
            <p:ph type="body" idx="1"/>
          </p:nvPr>
        </p:nvSpPr>
        <p:spPr>
          <a:xfrm>
            <a:off x="237851" y="796575"/>
            <a:ext cx="6876000" cy="208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457200" lvl="0" indent="-4572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AutoNum type="arabicPeriod"/>
            </a:pPr>
            <a:r>
              <a:rPr lang="en-US" sz="2000"/>
              <a:t>👋🏽 Welcome, Announcements (5 mins)</a:t>
            </a:r>
            <a:endParaRPr/>
          </a:p>
          <a:p>
            <a:pPr marL="457200" lvl="0" indent="-4572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AutoNum type="arabicPeriod"/>
            </a:pPr>
            <a:r>
              <a:rPr lang="en-US" sz="2000"/>
              <a:t>📝 Pre-work Recap, Workshop Intro and Demo (15 mins)</a:t>
            </a:r>
            <a:endParaRPr sz="2000"/>
          </a:p>
          <a:p>
            <a:pPr marL="457200" lvl="0" indent="-4572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AutoNum type="arabicPeriod"/>
            </a:pPr>
            <a:r>
              <a:rPr lang="en-US" sz="2000"/>
              <a:t>👩🏽‍💻 Workshop 3 Exercise (1 hour 10 minutes) </a:t>
            </a:r>
            <a:endParaRPr sz="2000">
              <a:solidFill>
                <a:schemeClr val="dk1"/>
              </a:solidFill>
            </a:endParaRPr>
          </a:p>
          <a:p>
            <a:pPr marL="457200" lvl="0" indent="-4572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AutoNum type="arabicPeriod"/>
            </a:pPr>
            <a:r>
              <a:rPr lang="en-US" sz="2000"/>
              <a:t>📣 Presentations (10 mins) </a:t>
            </a:r>
            <a:endParaRPr sz="2000"/>
          </a:p>
          <a:p>
            <a:pPr marL="457200" lvl="0" indent="-45085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000"/>
              <a:buAutoNum type="arabicPeriod"/>
            </a:pPr>
            <a:r>
              <a:rPr lang="en-US" sz="2000"/>
              <a:t>👨🏻‍🏫 Additional Tool Demonstrations (20 mins) </a:t>
            </a:r>
            <a:endParaRPr sz="2000"/>
          </a:p>
        </p:txBody>
      </p:sp>
      <p:sp>
        <p:nvSpPr>
          <p:cNvPr id="80" name="Google Shape;80;p3"/>
          <p:cNvSpPr txBox="1">
            <a:spLocks noGrp="1"/>
          </p:cNvSpPr>
          <p:nvPr>
            <p:ph type="title"/>
          </p:nvPr>
        </p:nvSpPr>
        <p:spPr>
          <a:xfrm>
            <a:off x="237839" y="192122"/>
            <a:ext cx="43341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Workshop Schedule</a:t>
            </a:r>
            <a:endParaRPr/>
          </a:p>
        </p:txBody>
      </p:sp>
      <p:sp>
        <p:nvSpPr>
          <p:cNvPr id="81" name="Google Shape;81;p3"/>
          <p:cNvSpPr txBox="1"/>
          <p:nvPr/>
        </p:nvSpPr>
        <p:spPr>
          <a:xfrm>
            <a:off x="1358100" y="3225950"/>
            <a:ext cx="62952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>(No Kahoot game today, as the workshop task is quite long)</a:t>
            </a:r>
            <a:endParaRPr sz="2000" b="0" i="0" u="none" strike="noStrike" cap="none">
              <a:solidFill>
                <a:srgbClr val="2029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7"/>
          <p:cNvSpPr txBox="1">
            <a:spLocks noGrp="1"/>
          </p:cNvSpPr>
          <p:nvPr>
            <p:ph type="body" idx="1"/>
          </p:nvPr>
        </p:nvSpPr>
        <p:spPr>
          <a:xfrm>
            <a:off x="2460799" y="949775"/>
            <a:ext cx="4434300" cy="176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</a:pPr>
            <a:r>
              <a:rPr lang="en-US" sz="4400" b="1"/>
              <a:t>Welcome, Announcements</a:t>
            </a:r>
            <a:endParaRPr sz="4000" b="1">
              <a:solidFill>
                <a:srgbClr val="A5A5A5"/>
              </a:solidFill>
            </a:endParaRPr>
          </a:p>
        </p:txBody>
      </p:sp>
      <p:pic>
        <p:nvPicPr>
          <p:cNvPr id="87" name="Google Shape;87;p37" descr="Graphical user interface&#10;&#10;Description automatically generated with low confidenc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715949" y="2767394"/>
            <a:ext cx="3027873" cy="2022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0" name="Google Shape;110;g35215968463_2_8"/>
          <p:cNvCxnSpPr/>
          <p:nvPr/>
        </p:nvCxnSpPr>
        <p:spPr>
          <a:xfrm>
            <a:off x="359564" y="485653"/>
            <a:ext cx="558300" cy="0"/>
          </a:xfrm>
          <a:prstGeom prst="straightConnector1">
            <a:avLst/>
          </a:prstGeom>
          <a:noFill/>
          <a:ln w="38100" cap="flat" cmpd="sng">
            <a:solidFill>
              <a:srgbClr val="57A7B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1" name="Google Shape;111;g35215968463_2_8"/>
          <p:cNvSpPr txBox="1"/>
          <p:nvPr/>
        </p:nvSpPr>
        <p:spPr>
          <a:xfrm>
            <a:off x="266600" y="96725"/>
            <a:ext cx="8456400" cy="36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en-US" sz="19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Reminder: We can’t see group chat in breakout rooms. Raise hand or Ask for Help</a:t>
            </a:r>
            <a:endParaRPr sz="19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2" name="Google Shape;112;g35215968463_2_8"/>
          <p:cNvCxnSpPr/>
          <p:nvPr/>
        </p:nvCxnSpPr>
        <p:spPr>
          <a:xfrm>
            <a:off x="359564" y="485653"/>
            <a:ext cx="558300" cy="0"/>
          </a:xfrm>
          <a:prstGeom prst="straightConnector1">
            <a:avLst/>
          </a:prstGeom>
          <a:noFill/>
          <a:ln w="38100" cap="flat" cmpd="sng">
            <a:solidFill>
              <a:srgbClr val="57A7B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13" name="Google Shape;113;g35215968463_2_8" title="66b35c7eb41ed02cb2699daa_How to Raise Your Hand on Zoom Desktop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2400" y="1125152"/>
            <a:ext cx="4024125" cy="2414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g35215968463_2_8" title="1_37XDdssbAjeHT4nQZFbeuA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93925" y="1147713"/>
            <a:ext cx="4172100" cy="236935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g35215968463_2_8"/>
          <p:cNvSpPr/>
          <p:nvPr/>
        </p:nvSpPr>
        <p:spPr>
          <a:xfrm>
            <a:off x="5143850" y="2623150"/>
            <a:ext cx="1889100" cy="1098300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g35215968463_2_8"/>
          <p:cNvSpPr/>
          <p:nvPr/>
        </p:nvSpPr>
        <p:spPr>
          <a:xfrm>
            <a:off x="5375925" y="1950475"/>
            <a:ext cx="2362500" cy="564600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258933c432d_2_0"/>
          <p:cNvSpPr txBox="1">
            <a:spLocks noGrp="1"/>
          </p:cNvSpPr>
          <p:nvPr>
            <p:ph type="ctrTitle"/>
          </p:nvPr>
        </p:nvSpPr>
        <p:spPr>
          <a:xfrm>
            <a:off x="1142988" y="3263011"/>
            <a:ext cx="6858000" cy="69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02934"/>
              </a:buClr>
              <a:buSzPts val="4500"/>
              <a:buFont typeface="Calibri"/>
              <a:buNone/>
            </a:pPr>
            <a:r>
              <a:rPr lang="en-US"/>
              <a:t>Workshop Intro</a:t>
            </a:r>
            <a:endParaRPr sz="4600">
              <a:solidFill>
                <a:schemeClr val="dk2"/>
              </a:solidFill>
            </a:endParaRPr>
          </a:p>
        </p:txBody>
      </p:sp>
      <p:pic>
        <p:nvPicPr>
          <p:cNvPr id="122" name="Google Shape;122;g258933c432d_2_0" descr="Graphical user interface&#10;&#10;Description automatically generated with low confidenc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58075" y="1060819"/>
            <a:ext cx="3027873" cy="20225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5954a240fe_1_253"/>
          <p:cNvSpPr txBox="1">
            <a:spLocks noGrp="1"/>
          </p:cNvSpPr>
          <p:nvPr>
            <p:ph type="title"/>
          </p:nvPr>
        </p:nvSpPr>
        <p:spPr>
          <a:xfrm>
            <a:off x="275004" y="125650"/>
            <a:ext cx="68406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0"/>
              <a:buNone/>
            </a:pPr>
            <a:r>
              <a:rPr lang="en-US"/>
              <a:t>Pre-work recap: using LLMs in spreadsheets</a:t>
            </a:r>
            <a:endParaRPr/>
          </a:p>
        </p:txBody>
      </p:sp>
      <p:cxnSp>
        <p:nvCxnSpPr>
          <p:cNvPr id="129" name="Google Shape;129;g35954a240fe_1_253"/>
          <p:cNvCxnSpPr/>
          <p:nvPr/>
        </p:nvCxnSpPr>
        <p:spPr>
          <a:xfrm>
            <a:off x="359564" y="485653"/>
            <a:ext cx="558300" cy="0"/>
          </a:xfrm>
          <a:prstGeom prst="straightConnector1">
            <a:avLst/>
          </a:prstGeom>
          <a:noFill/>
          <a:ln w="38100" cap="flat" cmpd="sng">
            <a:solidFill>
              <a:srgbClr val="57A7B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30" name="Google Shape;130;g35954a240fe_1_253" title="ChatGPT Image May 23, 2025, 03_33_27 PM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1575" y="617600"/>
            <a:ext cx="2812124" cy="2812124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g35954a240fe_1_253"/>
          <p:cNvSpPr txBox="1"/>
          <p:nvPr/>
        </p:nvSpPr>
        <p:spPr>
          <a:xfrm>
            <a:off x="3762825" y="1364225"/>
            <a:ext cx="10122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vs</a:t>
            </a:r>
            <a:endParaRPr sz="20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Google Shape;132;g35954a240fe_1_253" title="ChatGPT Image May 23, 2025, 03_33_31 PM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821325" y="485650"/>
            <a:ext cx="2812124" cy="2812124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g35954a240fe_1_253"/>
          <p:cNvSpPr/>
          <p:nvPr/>
        </p:nvSpPr>
        <p:spPr>
          <a:xfrm>
            <a:off x="805840" y="3740875"/>
            <a:ext cx="3495300" cy="22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17D86"/>
              </a:buClr>
              <a:buSzPts val="1400"/>
              <a:buFont typeface="Nunito Sans"/>
              <a:buNone/>
            </a:pPr>
            <a:r>
              <a:rPr lang="en-US" sz="1600" b="1" i="0" u="none" strike="noStrike" cap="none">
                <a:solidFill>
                  <a:srgbClr val="417D86"/>
                </a:solidFill>
                <a:latin typeface="Nunito Sans"/>
                <a:ea typeface="Nunito Sans"/>
                <a:cs typeface="Nunito Sans"/>
                <a:sym typeface="Nunito Sans"/>
              </a:rPr>
              <a:t>Graphical User Interface (GUI)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g35954a240fe_1_253"/>
          <p:cNvSpPr/>
          <p:nvPr/>
        </p:nvSpPr>
        <p:spPr>
          <a:xfrm>
            <a:off x="521456" y="4086252"/>
            <a:ext cx="3903000" cy="2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02934"/>
              </a:buClr>
              <a:buSzPts val="1100"/>
              <a:buFont typeface="Nunito Sans"/>
              <a:buNone/>
            </a:pPr>
            <a:r>
              <a:rPr lang="en-US" sz="1300" b="1" i="0" u="none" strike="noStrike" cap="none">
                <a:solidFill>
                  <a:srgbClr val="202934"/>
                </a:solidFill>
                <a:latin typeface="Nunito Sans"/>
                <a:ea typeface="Nunito Sans"/>
                <a:cs typeface="Nunito Sans"/>
                <a:sym typeface="Nunito Sans"/>
              </a:rPr>
              <a:t>Visual interface designed for human interaction.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g35954a240fe_1_253"/>
          <p:cNvSpPr/>
          <p:nvPr/>
        </p:nvSpPr>
        <p:spPr>
          <a:xfrm>
            <a:off x="4651762" y="3740875"/>
            <a:ext cx="4094100" cy="22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17D86"/>
              </a:buClr>
              <a:buSzPts val="1400"/>
              <a:buFont typeface="Nunito Sans"/>
              <a:buNone/>
            </a:pPr>
            <a:r>
              <a:rPr lang="en-US" sz="1600" b="1" i="0" u="none" strike="noStrike" cap="none">
                <a:solidFill>
                  <a:srgbClr val="417D86"/>
                </a:solidFill>
                <a:latin typeface="Nunito Sans"/>
                <a:ea typeface="Nunito Sans"/>
                <a:cs typeface="Nunito Sans"/>
                <a:sym typeface="Nunito Sans"/>
              </a:rPr>
              <a:t>Application Programming Interface (API)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g35954a240fe_1_253"/>
          <p:cNvSpPr/>
          <p:nvPr/>
        </p:nvSpPr>
        <p:spPr>
          <a:xfrm>
            <a:off x="4651738" y="4086239"/>
            <a:ext cx="3903000" cy="2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202934"/>
              </a:buClr>
              <a:buSzPts val="1100"/>
              <a:buFont typeface="Nunito Sans"/>
              <a:buNone/>
            </a:pPr>
            <a:r>
              <a:rPr lang="en-US" sz="1300" b="1" i="0" u="none" strike="noStrike" cap="none">
                <a:solidFill>
                  <a:srgbClr val="202934"/>
                </a:solidFill>
                <a:latin typeface="Nunito Sans"/>
                <a:ea typeface="Nunito Sans"/>
                <a:cs typeface="Nunito Sans"/>
                <a:sym typeface="Nunito Sans"/>
              </a:rPr>
              <a:t>Code-based interface for program interactions.</a:t>
            </a:r>
            <a:endParaRPr sz="1300" b="1" i="0" u="none" strike="noStrike" cap="none">
              <a:solidFill>
                <a:srgbClr val="202934"/>
              </a:solidFill>
              <a:latin typeface="Nunito Sans"/>
              <a:ea typeface="Nunito Sans"/>
              <a:cs typeface="Nunito Sans"/>
              <a:sym typeface="Nunito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854c283ccb_0_74"/>
          <p:cNvSpPr txBox="1">
            <a:spLocks noGrp="1"/>
          </p:cNvSpPr>
          <p:nvPr>
            <p:ph type="title"/>
          </p:nvPr>
        </p:nvSpPr>
        <p:spPr>
          <a:xfrm>
            <a:off x="275004" y="125650"/>
            <a:ext cx="68406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0"/>
              <a:buNone/>
            </a:pPr>
            <a:r>
              <a:rPr lang="en-US"/>
              <a:t>Reminder of pre-work </a:t>
            </a:r>
            <a:endParaRPr/>
          </a:p>
        </p:txBody>
      </p:sp>
      <p:cxnSp>
        <p:nvCxnSpPr>
          <p:cNvPr id="143" name="Google Shape;143;g3854c283ccb_0_74"/>
          <p:cNvCxnSpPr/>
          <p:nvPr/>
        </p:nvCxnSpPr>
        <p:spPr>
          <a:xfrm>
            <a:off x="359564" y="485653"/>
            <a:ext cx="558300" cy="0"/>
          </a:xfrm>
          <a:prstGeom prst="straightConnector1">
            <a:avLst/>
          </a:prstGeom>
          <a:noFill/>
          <a:ln w="38100" cap="flat" cmpd="sng">
            <a:solidFill>
              <a:srgbClr val="57A7B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4" name="Google Shape;144;g3854c283ccb_0_74"/>
          <p:cNvSpPr/>
          <p:nvPr/>
        </p:nvSpPr>
        <p:spPr>
          <a:xfrm>
            <a:off x="355652" y="567250"/>
            <a:ext cx="8432700" cy="2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17D86"/>
              </a:buClr>
              <a:buSzPts val="1400"/>
              <a:buFont typeface="Nunito Sans"/>
              <a:buNone/>
            </a:pPr>
            <a:r>
              <a:rPr lang="en-US" sz="1200" b="1" i="0" u="sng" strike="noStrike" cap="none">
                <a:solidFill>
                  <a:schemeClr val="hlink"/>
                </a:solidFill>
                <a:latin typeface="Nunito Sans"/>
                <a:ea typeface="Nunito Sans"/>
                <a:cs typeface="Nunito Sans"/>
                <a:sym typeface="Nunito Sans"/>
                <a:hlinkClick r:id="rId3"/>
              </a:rPr>
              <a:t>https://docs.google.com/spreadsheets/d/1qGOgr8jCPi74QWvCKRewR7o-kfcxeXmYiidTCmusOmU/</a:t>
            </a:r>
            <a:endParaRPr sz="1200" b="1" i="0" u="none" strike="noStrike" cap="none">
              <a:solidFill>
                <a:srgbClr val="417D86"/>
              </a:solidFill>
              <a:latin typeface="Nunito Sans"/>
              <a:ea typeface="Nunito Sans"/>
              <a:cs typeface="Nunito Sans"/>
              <a:sym typeface="Nunito Sans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417D86"/>
              </a:buClr>
              <a:buSzPts val="1400"/>
              <a:buFont typeface="Nunito Sans"/>
              <a:buNone/>
            </a:pPr>
            <a:r>
              <a:rPr lang="en-US" sz="1200" b="1">
                <a:solidFill>
                  <a:srgbClr val="417D86"/>
                </a:solidFill>
                <a:latin typeface="Nunito Sans"/>
                <a:ea typeface="Nunito Sans"/>
                <a:cs typeface="Nunito Sans"/>
                <a:sym typeface="Nunito Sans"/>
              </a:rPr>
              <a:t>https://thegraphcourses.org/courses/aiw-2026-t2/topics/using-llm-apis-with-openrouter-and-google-sheets-2/</a:t>
            </a:r>
            <a:endParaRPr sz="1200" b="1" i="0" u="none" strike="noStrike" cap="none">
              <a:solidFill>
                <a:srgbClr val="417D86"/>
              </a:solidFill>
              <a:latin typeface="Nunito Sans"/>
              <a:ea typeface="Nunito Sans"/>
              <a:cs typeface="Nunito Sans"/>
              <a:sym typeface="Nunito Sans"/>
            </a:endParaRPr>
          </a:p>
        </p:txBody>
      </p:sp>
      <p:pic>
        <p:nvPicPr>
          <p:cNvPr id="145" name="Google Shape;145;g3854c283ccb_0_74" title="CleanShot 2025-08-31 at 16.17.34@2x.jp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382250" y="1082450"/>
            <a:ext cx="3676057" cy="3823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9d39d9a122_0_60"/>
          <p:cNvSpPr txBox="1">
            <a:spLocks noGrp="1"/>
          </p:cNvSpPr>
          <p:nvPr>
            <p:ph type="body" idx="1"/>
          </p:nvPr>
        </p:nvSpPr>
        <p:spPr>
          <a:xfrm>
            <a:off x="201700" y="373475"/>
            <a:ext cx="8572500" cy="22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</a:pPr>
            <a:r>
              <a:rPr lang="en-US" sz="3400" b="1"/>
              <a:t>Two more applications of LLMs in a loop</a:t>
            </a:r>
            <a:endParaRPr sz="3400" b="1"/>
          </a:p>
          <a:p>
            <a:pPr marL="457200" lvl="0" indent="0" algn="ctr" rtl="0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</a:pPr>
            <a:r>
              <a:rPr lang="en-US" sz="3000"/>
              <a:t>•Literature Review</a:t>
            </a:r>
            <a:endParaRPr sz="3000"/>
          </a:p>
          <a:p>
            <a:pPr marL="457200" lvl="0" indent="0" algn="ctr" rtl="0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</a:pPr>
            <a:r>
              <a:rPr lang="en-US" sz="3000"/>
              <a:t>•Qualitative Data Analysis</a:t>
            </a:r>
            <a:endParaRPr sz="3000"/>
          </a:p>
        </p:txBody>
      </p:sp>
      <p:pic>
        <p:nvPicPr>
          <p:cNvPr id="208" name="Google Shape;208;g39d39d9a122_0_60" descr="Graphical user interface&#10;&#10;Description automatically generated with low confidenc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26112" y="2879444"/>
            <a:ext cx="3027873" cy="2022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35caa9fba86_0_129"/>
          <p:cNvSpPr txBox="1">
            <a:spLocks noGrp="1"/>
          </p:cNvSpPr>
          <p:nvPr>
            <p:ph type="title"/>
          </p:nvPr>
        </p:nvSpPr>
        <p:spPr>
          <a:xfrm>
            <a:off x="274999" y="125650"/>
            <a:ext cx="82116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0"/>
              <a:buNone/>
            </a:pPr>
            <a:r>
              <a:rPr lang="en-US"/>
              <a:t>From spreadsheets → Academic Literature Review?</a:t>
            </a:r>
            <a:endParaRPr/>
          </a:p>
        </p:txBody>
      </p:sp>
      <p:cxnSp>
        <p:nvCxnSpPr>
          <p:cNvPr id="215" name="Google Shape;215;g35caa9fba86_0_129"/>
          <p:cNvCxnSpPr/>
          <p:nvPr/>
        </p:nvCxnSpPr>
        <p:spPr>
          <a:xfrm>
            <a:off x="359564" y="485653"/>
            <a:ext cx="558300" cy="0"/>
          </a:xfrm>
          <a:prstGeom prst="straightConnector1">
            <a:avLst/>
          </a:prstGeom>
          <a:noFill/>
          <a:ln w="38100" cap="flat" cmpd="sng">
            <a:solidFill>
              <a:srgbClr val="57A7B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216" name="Google Shape;216;g35caa9fba86_0_129" title="ChatGPT Image May 23, 2025, 03_33_31 PM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45975" y="640725"/>
            <a:ext cx="2812124" cy="2812124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g35caa9fba86_0_129"/>
          <p:cNvSpPr/>
          <p:nvPr/>
        </p:nvSpPr>
        <p:spPr>
          <a:xfrm>
            <a:off x="917875" y="4000000"/>
            <a:ext cx="7568700" cy="2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417D86"/>
              </a:buClr>
              <a:buSzPts val="2800"/>
              <a:buFont typeface="Nunito Sans"/>
              <a:buNone/>
            </a:pPr>
            <a:r>
              <a:rPr lang="en-US" sz="1600" b="1" i="0" u="none" strike="noStrike" cap="none">
                <a:solidFill>
                  <a:srgbClr val="417D86"/>
                </a:solidFill>
                <a:latin typeface="Nunito Sans"/>
                <a:ea typeface="Nunito Sans"/>
                <a:cs typeface="Nunito Sans"/>
                <a:sym typeface="Nunito Sans"/>
              </a:rPr>
              <a:t>IDEA: Could we use the API in Google Sheets setup for academic paper review?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g35caa9fba86_0_129"/>
          <p:cNvSpPr txBox="1"/>
          <p:nvPr/>
        </p:nvSpPr>
        <p:spPr>
          <a:xfrm>
            <a:off x="1967875" y="4294000"/>
            <a:ext cx="54621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Answer: </a:t>
            </a:r>
            <a:r>
              <a:rPr lang="en-US" sz="15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Possible</a:t>
            </a:r>
            <a:r>
              <a:rPr lang="en-US" sz="15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 But best to use a dedicated tool. </a:t>
            </a:r>
            <a:r>
              <a:rPr lang="en-US" sz="15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e.g. Gemini Notebook (today), Elicit</a:t>
            </a:r>
            <a:endParaRPr sz="15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g3854c283ccb_0_6"/>
          <p:cNvGrpSpPr/>
          <p:nvPr/>
        </p:nvGrpSpPr>
        <p:grpSpPr>
          <a:xfrm>
            <a:off x="285750" y="33250"/>
            <a:ext cx="8572500" cy="571500"/>
            <a:chOff x="285750" y="33250"/>
            <a:chExt cx="8572500" cy="571500"/>
          </a:xfrm>
        </p:grpSpPr>
        <p:sp>
          <p:nvSpPr>
            <p:cNvPr id="94" name="Google Shape;94;g3854c283ccb_0_6"/>
            <p:cNvSpPr txBox="1"/>
            <p:nvPr/>
          </p:nvSpPr>
          <p:spPr>
            <a:xfrm>
              <a:off x="285750" y="33250"/>
              <a:ext cx="8572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202934"/>
                  </a:solidFill>
                  <a:latin typeface="Calibri"/>
                  <a:ea typeface="Calibri"/>
                  <a:cs typeface="Calibri"/>
                  <a:sym typeface="Calibri"/>
                </a:rPr>
                <a:t>Today: summarise a body of literature</a:t>
              </a:r>
              <a:endParaRPr sz="2000" b="1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01" name="OUR PAPERS card"/>
          <p:cNvSpPr/>
          <p:nvPr/>
        </p:nvSpPr>
        <p:spPr>
          <a:xfrm>
            <a:off x="457200" y="868680"/>
            <a:ext cx="4023360" cy="2215342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D4D3D9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en-US"/>
          </a:p>
        </p:txBody>
      </p:sp>
      <p:sp>
        <p:nvSpPr>
          <p:cNvPr id="1002" name="OUR PAPERS label"/>
          <p:cNvSpPr txBox="1"/>
          <p:nvPr/>
        </p:nvSpPr>
        <p:spPr>
          <a:xfrm>
            <a:off x="731520" y="109728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100" b="1">
                <a:solidFill>
                  <a:srgbClr val="57A7B1"/>
                </a:solidFill>
                <a:latin typeface="Calibri"/>
                <a:ea typeface="Calibri"/>
                <a:cs typeface="Calibri"/>
                <a:sym typeface="Calibri"/>
              </a:rPr>
              <a:t>OUR PAPERS</a:t>
            </a:r>
          </a:p>
        </p:txBody>
      </p:sp>
      <p:sp>
        <p:nvSpPr>
          <p:cNvPr id="1003" name="OUR PAPERS title"/>
          <p:cNvSpPr txBox="1"/>
          <p:nvPr/>
        </p:nvSpPr>
        <p:spPr>
          <a:xfrm>
            <a:off x="731520" y="1371600"/>
            <a:ext cx="3474720" cy="4114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2000" b="1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>Social media breaks</a:t>
            </a:r>
          </a:p>
        </p:txBody>
      </p:sp>
      <p:sp>
        <p:nvSpPr>
          <p:cNvPr id="1004" name="OUR PAPERS number"/>
          <p:cNvSpPr txBox="1"/>
          <p:nvPr/>
        </p:nvSpPr>
        <p:spPr>
          <a:xfrm>
            <a:off x="731520" y="1828800"/>
            <a:ext cx="1051560" cy="73152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4800" b="1">
                <a:solidFill>
                  <a:srgbClr val="57A7B1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</a:p>
        </p:txBody>
      </p:sp>
      <p:sp>
        <p:nvSpPr>
          <p:cNvPr id="1005" name="OUR PAPERS question"/>
          <p:cNvSpPr txBox="1"/>
          <p:nvPr/>
        </p:nvSpPr>
        <p:spPr>
          <a:xfrm>
            <a:off x="1737360" y="1874520"/>
            <a:ext cx="2468880" cy="685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00" b="1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>experiments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en-US" sz="1200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rPr>
              <a:t>Does quitting or cutting down on social media improve mood?</a:t>
            </a:r>
          </a:p>
        </p:txBody>
      </p:sp>
      <p:sp>
        <p:nvSpPr>
          <p:cNvPr id="1007" name="OPTIONAL CHALLENGE (UNGRADED) card"/>
          <p:cNvSpPr/>
          <p:nvPr/>
        </p:nvSpPr>
        <p:spPr>
          <a:xfrm>
            <a:off x="4663440" y="868680"/>
            <a:ext cx="4023360" cy="2215342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D4D3D9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en-US"/>
          </a:p>
        </p:txBody>
      </p:sp>
      <p:sp>
        <p:nvSpPr>
          <p:cNvPr id="1008" name="OPTIONAL CHALLENGE (UNGRADED) label"/>
          <p:cNvSpPr txBox="1"/>
          <p:nvPr/>
        </p:nvSpPr>
        <p:spPr>
          <a:xfrm>
            <a:off x="4937760" y="109728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100" b="1">
                <a:solidFill>
                  <a:srgbClr val="57A7B1"/>
                </a:solidFill>
                <a:latin typeface="Calibri"/>
                <a:ea typeface="Calibri"/>
                <a:cs typeface="Calibri"/>
                <a:sym typeface="Calibri"/>
              </a:rPr>
              <a:t>OPTIONAL CHALLENGE (UNGRADED)</a:t>
            </a:r>
          </a:p>
        </p:txBody>
      </p:sp>
      <p:sp>
        <p:nvSpPr>
          <p:cNvPr id="1009" name="OPTIONAL CHALLENGE (UNGRADED) title"/>
          <p:cNvSpPr txBox="1"/>
          <p:nvPr/>
        </p:nvSpPr>
        <p:spPr>
          <a:xfrm>
            <a:off x="4937760" y="1371600"/>
            <a:ext cx="3474720" cy="4114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2000" b="1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>Your own PDFs</a:t>
            </a:r>
          </a:p>
        </p:txBody>
      </p:sp>
      <p:sp>
        <p:nvSpPr>
          <p:cNvPr id="1010" name="OPTIONAL CHALLENGE (UNGRADED) number"/>
          <p:cNvSpPr txBox="1"/>
          <p:nvPr/>
        </p:nvSpPr>
        <p:spPr>
          <a:xfrm>
            <a:off x="4937760" y="1828800"/>
            <a:ext cx="1051560" cy="73152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4800" b="1">
                <a:solidFill>
                  <a:srgbClr val="57A7B1"/>
                </a:solidFill>
                <a:latin typeface="Calibri"/>
                <a:ea typeface="Calibri"/>
                <a:cs typeface="Calibri"/>
                <a:sym typeface="Calibri"/>
              </a:rPr>
              <a:t>10+</a:t>
            </a:r>
          </a:p>
        </p:txBody>
      </p:sp>
      <p:sp>
        <p:nvSpPr>
          <p:cNvPr id="1011" name="OPTIONAL CHALLENGE (UNGRADED) question"/>
          <p:cNvSpPr txBox="1"/>
          <p:nvPr/>
        </p:nvSpPr>
        <p:spPr>
          <a:xfrm>
            <a:off x="5943600" y="1874520"/>
            <a:ext cx="2468880" cy="685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00" b="1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>papers or reports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en-US" sz="1200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rPr>
              <a:t>Any collection you are allowed to upload to an AI tool.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2ca0348706c_0_0"/>
          <p:cNvSpPr txBox="1">
            <a:spLocks noGrp="1"/>
          </p:cNvSpPr>
          <p:nvPr>
            <p:ph type="body" idx="1"/>
          </p:nvPr>
        </p:nvSpPr>
        <p:spPr>
          <a:xfrm>
            <a:off x="0" y="1289850"/>
            <a:ext cx="91440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en-US" sz="47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✨</a:t>
            </a:r>
            <a:r>
              <a:rPr lang="en-US" sz="4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Breakout Rooms!</a:t>
            </a:r>
            <a:r>
              <a:rPr lang="en-US" sz="4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✨</a:t>
            </a:r>
            <a:endParaRPr sz="21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9" name="Google Shape;159;g2ca0348706c_0_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915025" y="2982825"/>
            <a:ext cx="5313951" cy="2755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g2ca0348706c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06370" y="4607242"/>
            <a:ext cx="760845" cy="182521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g2ca0348706c_0_0"/>
          <p:cNvSpPr txBox="1">
            <a:spLocks noGrp="1"/>
          </p:cNvSpPr>
          <p:nvPr>
            <p:ph type="ctrTitle" idx="4294967295"/>
          </p:nvPr>
        </p:nvSpPr>
        <p:spPr>
          <a:xfrm>
            <a:off x="1109513" y="1073836"/>
            <a:ext cx="68580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sp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02934"/>
              </a:buClr>
              <a:buSzPts val="4500"/>
              <a:buFont typeface="Calibri"/>
              <a:buNone/>
            </a:pPr>
            <a:r>
              <a:rPr lang="en-US" sz="2400" b="1" i="0" u="none" strike="noStrike" cap="none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>EXERCISE TIME</a:t>
            </a:r>
            <a:endParaRPr sz="4000" b="1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2ca0348706c_0_4"/>
          <p:cNvSpPr txBox="1">
            <a:spLocks noGrp="1"/>
          </p:cNvSpPr>
          <p:nvPr>
            <p:ph type="body" idx="1"/>
          </p:nvPr>
        </p:nvSpPr>
        <p:spPr>
          <a:xfrm>
            <a:off x="0" y="1222975"/>
            <a:ext cx="9144000" cy="7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en-US" sz="43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Presentations</a:t>
            </a:r>
            <a:r>
              <a:rPr lang="en-US" sz="4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✨</a:t>
            </a:r>
            <a:endParaRPr sz="21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7" name="Google Shape;167;g2ca0348706c_0_4"/>
          <p:cNvPicPr preferRelativeResize="0"/>
          <p:nvPr/>
        </p:nvPicPr>
        <p:blipFill rotWithShape="1">
          <a:blip r:embed="rId3">
            <a:alphaModFix/>
          </a:blip>
          <a:srcRect t="23130"/>
          <a:stretch/>
        </p:blipFill>
        <p:spPr>
          <a:xfrm>
            <a:off x="1805250" y="2249525"/>
            <a:ext cx="5533500" cy="42536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5caa9fba86_0_144"/>
          <p:cNvSpPr txBox="1">
            <a:spLocks noGrp="1"/>
          </p:cNvSpPr>
          <p:nvPr>
            <p:ph type="title" idx="4294967295"/>
          </p:nvPr>
        </p:nvSpPr>
        <p:spPr>
          <a:xfrm>
            <a:off x="275004" y="125650"/>
            <a:ext cx="68406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0"/>
              <a:buNone/>
            </a:pPr>
            <a:r>
              <a:rPr lang="en-US"/>
              <a:t>Demo of Elicit: LLM-Powered Literature Review</a:t>
            </a:r>
            <a:endParaRPr/>
          </a:p>
        </p:txBody>
      </p:sp>
      <p:cxnSp>
        <p:nvCxnSpPr>
          <p:cNvPr id="224" name="Google Shape;224;g35caa9fba86_0_144"/>
          <p:cNvCxnSpPr/>
          <p:nvPr/>
        </p:nvCxnSpPr>
        <p:spPr>
          <a:xfrm>
            <a:off x="359564" y="485653"/>
            <a:ext cx="558300" cy="0"/>
          </a:xfrm>
          <a:prstGeom prst="straightConnector1">
            <a:avLst/>
          </a:prstGeom>
          <a:noFill/>
          <a:ln w="38100" cap="flat" cmpd="sng">
            <a:solidFill>
              <a:srgbClr val="57A7B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225" name="Google Shape;225;g35caa9fba86_0_144" title="CleanShot 2025-05-23 at 15.49.20.jp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9575" y="638050"/>
            <a:ext cx="5323018" cy="4060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g35caa9fba86_0_144"/>
          <p:cNvSpPr/>
          <p:nvPr/>
        </p:nvSpPr>
        <p:spPr>
          <a:xfrm>
            <a:off x="1447925" y="3810298"/>
            <a:ext cx="3721500" cy="261300"/>
          </a:xfrm>
          <a:prstGeom prst="rect">
            <a:avLst/>
          </a:prstGeom>
          <a:noFill/>
          <a:ln w="35550" cap="flat" cmpd="sng">
            <a:solidFill>
              <a:srgbClr val="CC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5275" tIns="85275" rIns="85275" bIns="85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6"/>
              <a:buFont typeface="Arial"/>
              <a:buNone/>
            </a:pPr>
            <a:endParaRPr sz="130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g35caa9fba86_0_144"/>
          <p:cNvSpPr txBox="1"/>
          <p:nvPr/>
        </p:nvSpPr>
        <p:spPr>
          <a:xfrm>
            <a:off x="5768650" y="585475"/>
            <a:ext cx="3229500" cy="27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Are other papers reporting similarly large seroprev? What methods did they use?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4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en-US" sz="1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Before:</a:t>
            </a: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Read through papers manually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en-US" sz="1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Now:</a:t>
            </a: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search “</a:t>
            </a:r>
            <a:r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SARS-CoV-2 seroprevalence in Cameroon” on Elicit </a:t>
            </a:r>
            <a:r>
              <a:rPr lang="en-US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(Find Papers)</a:t>
            </a:r>
            <a:r>
              <a:rPr lang="en-US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and let the AI read through each.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g3854c283ccb_0_6"/>
          <p:cNvGrpSpPr/>
          <p:nvPr/>
        </p:nvGrpSpPr>
        <p:grpSpPr>
          <a:xfrm>
            <a:off x="285750" y="33250"/>
            <a:ext cx="8572500" cy="571500"/>
            <a:chOff x="285750" y="33250"/>
            <a:chExt cx="8572500" cy="571500"/>
          </a:xfrm>
        </p:grpSpPr>
        <p:sp>
          <p:nvSpPr>
            <p:cNvPr id="94" name="Google Shape;94;g3854c283ccb_0_6"/>
            <p:cNvSpPr txBox="1"/>
            <p:nvPr/>
          </p:nvSpPr>
          <p:spPr>
            <a:xfrm>
              <a:off x="285750" y="33250"/>
              <a:ext cx="8572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202934"/>
                  </a:solidFill>
                  <a:latin typeface="Calibri"/>
                  <a:ea typeface="Calibri"/>
                  <a:cs typeface="Calibri"/>
                  <a:sym typeface="Calibri"/>
                </a:rPr>
                <a:t>What a meta-analysis shows that our table doesn't</a:t>
              </a:r>
              <a:endParaRPr sz="2000" b="1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42" name="Your table card"/>
          <p:cNvSpPr/>
          <p:nvPr/>
        </p:nvSpPr>
        <p:spPr>
          <a:xfrm>
            <a:off x="457200" y="868680"/>
            <a:ext cx="4023360" cy="352044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D4D3D9"/>
            </a:solidFill>
          </a:ln>
        </p:spPr>
        <p:txBody>
          <a:bodyPr wrap="square" lIns="0" tIns="0" rIns="0" bIns="0" anchor="ctr">
            <a:noAutofit/>
          </a:bodyPr>
          <a:lstStyle/>
          <a:p>
            <a:endParaRPr lang="en-US"/>
          </a:p>
        </p:txBody>
      </p:sp>
      <p:sp>
        <p:nvSpPr>
          <p:cNvPr id="1043" name="Your table title"/>
          <p:cNvSpPr txBox="1"/>
          <p:nvPr/>
        </p:nvSpPr>
        <p:spPr>
          <a:xfrm>
            <a:off x="731520" y="105156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>Your table</a:t>
            </a:r>
          </a:p>
        </p:txBody>
      </p:sp>
      <p:sp>
        <p:nvSpPr>
          <p:cNvPr id="1044" name="Your table subtitle"/>
          <p:cNvSpPr txBox="1"/>
          <p:nvPr/>
        </p:nvSpPr>
        <p:spPr>
          <a:xfrm>
            <a:off x="731520" y="141732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150" i="1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rPr>
              <a:t>A quick narrative summary</a:t>
            </a:r>
          </a:p>
        </p:txBody>
      </p:sp>
      <p:sp>
        <p:nvSpPr>
          <p:cNvPr id="1045" name="Your table list"/>
          <p:cNvSpPr txBox="1"/>
          <p:nvPr/>
        </p:nvSpPr>
        <p:spPr>
          <a:xfrm>
            <a:off x="731520" y="1874520"/>
            <a:ext cx="3520440" cy="23774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71450" indent="-171450" algn="l">
              <a:spcBef>
                <a:spcPts val="0"/>
              </a:spcBef>
              <a:buClr>
                <a:srgbClr val="57A7B1"/>
              </a:buClr>
              <a:buSzPct val="100000"/>
              <a:buFont typeface="Arial"/>
              <a:buChar char="•"/>
            </a:pPr>
            <a:r>
              <a:rPr lang="en-US" sz="1200" b="1" dirty="0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>Counts verdicts:</a:t>
            </a:r>
            <a:r>
              <a:rPr lang="en-US" sz="1200" dirty="0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rPr>
              <a:t>  how many rows say “Improved”?</a:t>
            </a:r>
          </a:p>
          <a:p>
            <a:pPr marL="171450" indent="-171450" algn="l">
              <a:spcBef>
                <a:spcPts val="700"/>
              </a:spcBef>
              <a:buClr>
                <a:srgbClr val="57A7B1"/>
              </a:buClr>
              <a:buSzPct val="100000"/>
              <a:buFont typeface="Arial"/>
              <a:buChar char="•"/>
            </a:pPr>
            <a:r>
              <a:rPr lang="en-US" sz="1200" b="1" dirty="0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>Every study counts once,</a:t>
            </a:r>
            <a:r>
              <a:rPr lang="en-US" sz="1200" dirty="0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rPr>
              <a:t>  whether it had 35 people or 3,000</a:t>
            </a:r>
          </a:p>
          <a:p>
            <a:pPr marL="171450" indent="-171450" algn="l">
              <a:spcBef>
                <a:spcPts val="700"/>
              </a:spcBef>
              <a:buClr>
                <a:srgbClr val="57A7B1"/>
              </a:buClr>
              <a:buSzPct val="100000"/>
              <a:buFont typeface="Arial"/>
              <a:buChar char="•"/>
            </a:pPr>
            <a:r>
              <a:rPr lang="en-US" sz="1200" b="1" dirty="0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>Only the papers we picked</a:t>
            </a:r>
            <a:endParaRPr lang="en-US" sz="1200" dirty="0">
              <a:solidFill>
                <a:srgbClr val="4F4F5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6" name="The meta-analysis card"/>
          <p:cNvSpPr/>
          <p:nvPr/>
        </p:nvSpPr>
        <p:spPr>
          <a:xfrm>
            <a:off x="4663440" y="868680"/>
            <a:ext cx="4023360" cy="3520440"/>
          </a:xfrm>
          <a:prstGeom prst="roundRect">
            <a:avLst>
              <a:gd name="adj" fmla="val 5357"/>
            </a:avLst>
          </a:prstGeom>
          <a:solidFill>
            <a:srgbClr val="E6F2F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en-US"/>
          </a:p>
        </p:txBody>
      </p:sp>
      <p:sp>
        <p:nvSpPr>
          <p:cNvPr id="1047" name="The meta-analysis title"/>
          <p:cNvSpPr txBox="1"/>
          <p:nvPr/>
        </p:nvSpPr>
        <p:spPr>
          <a:xfrm>
            <a:off x="4937760" y="105156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>The meta-analysis</a:t>
            </a:r>
          </a:p>
        </p:txBody>
      </p:sp>
      <p:sp>
        <p:nvSpPr>
          <p:cNvPr id="1048" name="The meta-analysis subtitle"/>
          <p:cNvSpPr txBox="1"/>
          <p:nvPr/>
        </p:nvSpPr>
        <p:spPr>
          <a:xfrm>
            <a:off x="4937760" y="141732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150" i="1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rPr>
              <a:t>Lemahieu et al. 2025, Scientific Reports</a:t>
            </a:r>
          </a:p>
        </p:txBody>
      </p:sp>
      <p:sp>
        <p:nvSpPr>
          <p:cNvPr id="1049" name="The meta-analysis list"/>
          <p:cNvSpPr txBox="1"/>
          <p:nvPr/>
        </p:nvSpPr>
        <p:spPr>
          <a:xfrm>
            <a:off x="4937760" y="1874520"/>
            <a:ext cx="3520440" cy="23774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71450" indent="-171450" algn="l">
              <a:spcBef>
                <a:spcPts val="0"/>
              </a:spcBef>
              <a:buClr>
                <a:srgbClr val="57A7B1"/>
              </a:buClr>
              <a:buSzPct val="100000"/>
              <a:buFont typeface="Arial"/>
              <a:buChar char="•"/>
            </a:pPr>
            <a:r>
              <a:rPr lang="en-US" sz="1200" b="1" dirty="0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>Pools effect sizes:</a:t>
            </a:r>
            <a:r>
              <a:rPr lang="en-US" sz="1200" dirty="0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rPr>
              <a:t>  positive affect g = 0.03, not significant</a:t>
            </a:r>
          </a:p>
          <a:p>
            <a:pPr marL="171450" indent="-171450" algn="l">
              <a:spcBef>
                <a:spcPts val="700"/>
              </a:spcBef>
              <a:buClr>
                <a:srgbClr val="57A7B1"/>
              </a:buClr>
              <a:buSzPct val="100000"/>
              <a:buFont typeface="Arial"/>
              <a:buChar char="•"/>
            </a:pPr>
            <a:r>
              <a:rPr lang="en-US" sz="1200" b="1" dirty="0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>Weights by precision:</a:t>
            </a:r>
            <a:r>
              <a:rPr lang="en-US" sz="1200" dirty="0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rPr>
              <a:t>  big studies count more</a:t>
            </a:r>
          </a:p>
          <a:p>
            <a:pPr marL="171450" indent="-171450" algn="l">
              <a:spcBef>
                <a:spcPts val="700"/>
              </a:spcBef>
              <a:buClr>
                <a:srgbClr val="57A7B1"/>
              </a:buClr>
              <a:buSzPct val="100000"/>
              <a:buFont typeface="Arial"/>
              <a:buChar char="•"/>
            </a:pPr>
            <a:r>
              <a:rPr lang="en-US" sz="1200" b="1" dirty="0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>Systematic search:</a:t>
            </a:r>
            <a:r>
              <a:rPr lang="en-US" sz="1200" dirty="0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rPr>
              <a:t>  includes studies behind paywalls</a:t>
            </a:r>
          </a:p>
          <a:p>
            <a:pPr marL="171450" indent="-171450" algn="l">
              <a:spcBef>
                <a:spcPts val="700"/>
              </a:spcBef>
              <a:buClr>
                <a:srgbClr val="57A7B1"/>
              </a:buClr>
              <a:buSzPct val="100000"/>
              <a:buFont typeface="Arial"/>
              <a:buChar char="•"/>
            </a:pPr>
            <a:r>
              <a:rPr lang="en-US" sz="1200" b="1" dirty="0">
                <a:solidFill>
                  <a:srgbClr val="202934"/>
                </a:solidFill>
                <a:latin typeface="Calibri"/>
                <a:ea typeface="Calibri"/>
                <a:cs typeface="Calibri"/>
                <a:sym typeface="Calibri"/>
              </a:rPr>
              <a:t>Checks heterogeneity, bias</a:t>
            </a:r>
            <a:r>
              <a:rPr lang="en-US" sz="1200" dirty="0">
                <a:solidFill>
                  <a:srgbClr val="4F4F5C"/>
                </a:solidFill>
                <a:latin typeface="Calibri"/>
                <a:ea typeface="Calibri"/>
                <a:cs typeface="Calibri"/>
                <a:sym typeface="Calibri"/>
              </a:rPr>
              <a:t>  and whether break length matters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Google Shape;189;g35caa9fba86_0_227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72000" y="2759107"/>
            <a:ext cx="336649" cy="336649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g35caa9fba86_0_227"/>
          <p:cNvSpPr/>
          <p:nvPr/>
        </p:nvSpPr>
        <p:spPr>
          <a:xfrm>
            <a:off x="391440" y="1105175"/>
            <a:ext cx="3702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6190"/>
              </a:lnSpc>
              <a:spcBef>
                <a:spcPts val="0"/>
              </a:spcBef>
              <a:spcAft>
                <a:spcPts val="0"/>
              </a:spcAft>
              <a:buClr>
                <a:srgbClr val="202934"/>
              </a:buClr>
              <a:buSzPts val="1300"/>
              <a:buFont typeface="Nunito Sans"/>
              <a:buNone/>
            </a:pPr>
            <a:r>
              <a:rPr lang="en-US" sz="1500" b="1" i="0" u="none" strike="noStrike" cap="none">
                <a:solidFill>
                  <a:srgbClr val="202934"/>
                </a:solidFill>
                <a:latin typeface="Nunito Sans"/>
                <a:ea typeface="Nunito Sans"/>
                <a:cs typeface="Nunito Sans"/>
                <a:sym typeface="Nunito Sans"/>
              </a:rPr>
              <a:t>Model inaccuracy and hallucinations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g35caa9fba86_0_227"/>
          <p:cNvSpPr/>
          <p:nvPr/>
        </p:nvSpPr>
        <p:spPr>
          <a:xfrm>
            <a:off x="391400" y="1508050"/>
            <a:ext cx="3834900" cy="61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3636"/>
              </a:lnSpc>
              <a:spcBef>
                <a:spcPts val="0"/>
              </a:spcBef>
              <a:spcAft>
                <a:spcPts val="0"/>
              </a:spcAft>
              <a:buClr>
                <a:srgbClr val="202934"/>
              </a:buClr>
              <a:buSzPts val="1000"/>
              <a:buFont typeface="Nunito Sans"/>
              <a:buNone/>
            </a:pPr>
            <a:r>
              <a:rPr lang="en-US" sz="1300" b="1" i="0" u="none" strike="noStrike" cap="none">
                <a:solidFill>
                  <a:srgbClr val="202934"/>
                </a:solidFill>
                <a:latin typeface="Nunito Sans"/>
                <a:ea typeface="Nunito Sans"/>
                <a:cs typeface="Nunito Sans"/>
                <a:sym typeface="Nunito Sans"/>
              </a:rPr>
              <a:t>MITIGATION: </a:t>
            </a:r>
            <a:r>
              <a:rPr lang="en-US" sz="1300" b="0" i="0" u="none" strike="noStrike" cap="none">
                <a:solidFill>
                  <a:srgbClr val="202934"/>
                </a:solidFill>
                <a:latin typeface="Nunito Sans"/>
                <a:ea typeface="Nunito Sans"/>
                <a:cs typeface="Nunito Sans"/>
                <a:sym typeface="Nunito Sans"/>
              </a:rPr>
              <a:t>Click the citations and check a sample by hand. Test multiple models</a:t>
            </a:r>
            <a:endParaRPr sz="1300" b="0" i="0" u="none" strike="noStrike" cap="none">
              <a:solidFill>
                <a:srgbClr val="202934"/>
              </a:solidFill>
              <a:latin typeface="Nunito Sans"/>
              <a:ea typeface="Nunito Sans"/>
              <a:cs typeface="Nunito Sans"/>
              <a:sym typeface="Nunito Sans"/>
            </a:endParaRPr>
          </a:p>
        </p:txBody>
      </p:sp>
      <p:sp>
        <p:nvSpPr>
          <p:cNvPr id="192" name="Google Shape;192;g35caa9fba86_0_227"/>
          <p:cNvSpPr/>
          <p:nvPr/>
        </p:nvSpPr>
        <p:spPr>
          <a:xfrm>
            <a:off x="4572000" y="1181375"/>
            <a:ext cx="4572000" cy="26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6190"/>
              </a:lnSpc>
              <a:spcBef>
                <a:spcPts val="0"/>
              </a:spcBef>
              <a:spcAft>
                <a:spcPts val="0"/>
              </a:spcAft>
              <a:buClr>
                <a:srgbClr val="202934"/>
              </a:buClr>
              <a:buSzPts val="1300"/>
              <a:buFont typeface="Nunito Sans"/>
              <a:buNone/>
            </a:pPr>
            <a:r>
              <a:rPr lang="en-US" sz="1500" b="1" i="0" u="none" strike="noStrike" cap="none">
                <a:solidFill>
                  <a:srgbClr val="202934"/>
                </a:solidFill>
                <a:latin typeface="Nunito Sans"/>
                <a:ea typeface="Nunito Sans"/>
                <a:cs typeface="Nunito Sans"/>
                <a:sym typeface="Nunito Sans"/>
              </a:rPr>
              <a:t>Reproducibility limitation. Non-determinism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g35caa9fba86_0_227"/>
          <p:cNvSpPr/>
          <p:nvPr/>
        </p:nvSpPr>
        <p:spPr>
          <a:xfrm>
            <a:off x="4572000" y="1543650"/>
            <a:ext cx="4274400" cy="33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3636"/>
              </a:lnSpc>
              <a:spcBef>
                <a:spcPts val="0"/>
              </a:spcBef>
              <a:spcAft>
                <a:spcPts val="0"/>
              </a:spcAft>
              <a:buClr>
                <a:srgbClr val="202934"/>
              </a:buClr>
              <a:buSzPts val="1000"/>
              <a:buFont typeface="Nunito Sans"/>
              <a:buNone/>
            </a:pPr>
            <a:r>
              <a:rPr lang="en-US" sz="1400" b="1" i="0" u="none" strike="noStrike" cap="none">
                <a:solidFill>
                  <a:srgbClr val="202934"/>
                </a:solidFill>
                <a:latin typeface="Nunito Sans"/>
                <a:ea typeface="Nunito Sans"/>
                <a:cs typeface="Nunito Sans"/>
                <a:sym typeface="Nunito Sans"/>
              </a:rPr>
              <a:t>MITIGATION: </a:t>
            </a:r>
            <a:r>
              <a:rPr lang="en-US" sz="1400" b="0" i="0" u="none" strike="noStrike" cap="none">
                <a:solidFill>
                  <a:srgbClr val="202934"/>
                </a:solidFill>
                <a:latin typeface="Nunito Sans"/>
                <a:ea typeface="Nunito Sans"/>
                <a:cs typeface="Nunito Sans"/>
                <a:sym typeface="Nunito Sans"/>
              </a:rPr>
              <a:t>Rerun multiple times to ensure stability</a:t>
            </a:r>
            <a:endParaRPr sz="1400" b="0" i="0" u="none" strike="noStrike" cap="none">
              <a:solidFill>
                <a:srgbClr val="202934"/>
              </a:solidFill>
              <a:latin typeface="Nunito Sans"/>
              <a:ea typeface="Nunito Sans"/>
              <a:cs typeface="Nunito Sans"/>
              <a:sym typeface="Nunito Sans"/>
            </a:endParaRPr>
          </a:p>
        </p:txBody>
      </p:sp>
      <p:pic>
        <p:nvPicPr>
          <p:cNvPr id="194" name="Google Shape;194;g35caa9fba86_0_227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91453" y="2682908"/>
            <a:ext cx="336649" cy="336649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g35caa9fba86_0_227"/>
          <p:cNvSpPr/>
          <p:nvPr/>
        </p:nvSpPr>
        <p:spPr>
          <a:xfrm>
            <a:off x="442391" y="3172173"/>
            <a:ext cx="1683300" cy="21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6190"/>
              </a:lnSpc>
              <a:spcBef>
                <a:spcPts val="0"/>
              </a:spcBef>
              <a:spcAft>
                <a:spcPts val="0"/>
              </a:spcAft>
              <a:buClr>
                <a:srgbClr val="202934"/>
              </a:buClr>
              <a:buSzPts val="1300"/>
              <a:buFont typeface="Nunito Sans"/>
              <a:buNone/>
            </a:pPr>
            <a:r>
              <a:rPr lang="en-US" sz="1700" b="1" i="0" u="none" strike="noStrike" cap="none">
                <a:solidFill>
                  <a:srgbClr val="202934"/>
                </a:solidFill>
                <a:latin typeface="Nunito Sans"/>
                <a:ea typeface="Nunito Sans"/>
                <a:cs typeface="Nunito Sans"/>
                <a:sym typeface="Nunito Sans"/>
              </a:rPr>
              <a:t>API Costs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g35caa9fba86_0_227"/>
          <p:cNvSpPr/>
          <p:nvPr/>
        </p:nvSpPr>
        <p:spPr>
          <a:xfrm>
            <a:off x="442400" y="3535100"/>
            <a:ext cx="3526800" cy="10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3636"/>
              </a:lnSpc>
              <a:spcBef>
                <a:spcPts val="0"/>
              </a:spcBef>
              <a:spcAft>
                <a:spcPts val="0"/>
              </a:spcAft>
              <a:buClr>
                <a:srgbClr val="202934"/>
              </a:buClr>
              <a:buSzPts val="1000"/>
              <a:buFont typeface="Nunito Sans"/>
              <a:buNone/>
            </a:pPr>
            <a:r>
              <a:rPr lang="en-US" sz="1300" b="1" i="0" u="none" strike="noStrike" cap="none">
                <a:solidFill>
                  <a:srgbClr val="202934"/>
                </a:solidFill>
                <a:latin typeface="Nunito Sans"/>
                <a:ea typeface="Nunito Sans"/>
                <a:cs typeface="Nunito Sans"/>
                <a:sym typeface="Nunito Sans"/>
              </a:rPr>
              <a:t>MITIGATIONS: </a:t>
            </a:r>
            <a:r>
              <a:rPr lang="en-US" sz="1300" b="0" i="0" u="none" strike="noStrike" cap="none">
                <a:solidFill>
                  <a:srgbClr val="202934"/>
                </a:solidFill>
                <a:latin typeface="Nunito Sans"/>
                <a:ea typeface="Nunito Sans"/>
                <a:cs typeface="Nunito Sans"/>
                <a:sym typeface="Nunito Sans"/>
              </a:rPr>
              <a:t>Try free tiers first. </a:t>
            </a:r>
            <a:r>
              <a:rPr lang="en-US" sz="1300">
                <a:solidFill>
                  <a:srgbClr val="202934"/>
                </a:solidFill>
                <a:latin typeface="Nunito Sans"/>
                <a:ea typeface="Nunito Sans"/>
                <a:cs typeface="Nunito Sans"/>
                <a:sym typeface="Nunito Sans"/>
              </a:rPr>
              <a:t>Today: Gemini Notebook's free plan handles 14 PDFs; the figure needs Google AI Pro</a:t>
            </a:r>
            <a:endParaRPr sz="1300" b="0" i="0" u="none" strike="noStrike" cap="none">
              <a:solidFill>
                <a:schemeClr val="dk1"/>
              </a:solidFill>
              <a:latin typeface="Nunito Sans"/>
              <a:ea typeface="Nunito Sans"/>
              <a:cs typeface="Nunito Sans"/>
              <a:sym typeface="Nunito Sans"/>
            </a:endParaRPr>
          </a:p>
        </p:txBody>
      </p:sp>
      <p:pic>
        <p:nvPicPr>
          <p:cNvPr id="197" name="Google Shape;197;g35caa9fba86_0_227" descr="preencoded.png"/>
          <p:cNvPicPr preferRelativeResize="0"/>
          <p:nvPr/>
        </p:nvPicPr>
        <p:blipFill rotWithShape="1">
          <a:blip r:embed="rId5">
            <a:alphaModFix/>
          </a:blip>
          <a:srcRect t="37531" r="10"/>
          <a:stretch/>
        </p:blipFill>
        <p:spPr>
          <a:xfrm>
            <a:off x="391450" y="840578"/>
            <a:ext cx="336625" cy="210300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g35caa9fba86_0_227"/>
          <p:cNvSpPr/>
          <p:nvPr/>
        </p:nvSpPr>
        <p:spPr>
          <a:xfrm>
            <a:off x="4674017" y="3214175"/>
            <a:ext cx="3940500" cy="21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6190"/>
              </a:lnSpc>
              <a:spcBef>
                <a:spcPts val="0"/>
              </a:spcBef>
              <a:spcAft>
                <a:spcPts val="0"/>
              </a:spcAft>
              <a:buClr>
                <a:srgbClr val="202934"/>
              </a:buClr>
              <a:buSzPts val="1300"/>
              <a:buFont typeface="Nunito Sans"/>
              <a:buNone/>
            </a:pPr>
            <a:r>
              <a:rPr lang="en-US" sz="1600" b="1" i="0" u="none" strike="noStrike" cap="none">
                <a:solidFill>
                  <a:srgbClr val="202934"/>
                </a:solidFill>
                <a:latin typeface="Nunito Sans"/>
                <a:ea typeface="Nunito Sans"/>
                <a:cs typeface="Nunito Sans"/>
                <a:sym typeface="Nunito Sans"/>
              </a:rPr>
              <a:t>Privacy Issues. Sensitive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g35caa9fba86_0_227"/>
          <p:cNvSpPr/>
          <p:nvPr/>
        </p:nvSpPr>
        <p:spPr>
          <a:xfrm>
            <a:off x="4674025" y="3619100"/>
            <a:ext cx="4274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3636"/>
              </a:lnSpc>
              <a:spcBef>
                <a:spcPts val="0"/>
              </a:spcBef>
              <a:spcAft>
                <a:spcPts val="0"/>
              </a:spcAft>
              <a:buClr>
                <a:srgbClr val="202934"/>
              </a:buClr>
              <a:buSzPts val="1000"/>
              <a:buFont typeface="Nunito Sans"/>
              <a:buNone/>
            </a:pPr>
            <a:r>
              <a:rPr lang="en-US" sz="1300" b="1" i="0" u="none" strike="noStrike" cap="none">
                <a:solidFill>
                  <a:srgbClr val="202934"/>
                </a:solidFill>
                <a:latin typeface="Nunito Sans"/>
                <a:ea typeface="Nunito Sans"/>
                <a:cs typeface="Nunito Sans"/>
                <a:sym typeface="Nunito Sans"/>
              </a:rPr>
              <a:t>MITIGATION: </a:t>
            </a:r>
            <a:r>
              <a:rPr lang="en-US" sz="1300" b="0" i="0" u="none" strike="noStrike" cap="none">
                <a:solidFill>
                  <a:srgbClr val="202934"/>
                </a:solidFill>
                <a:latin typeface="Nunito Sans"/>
                <a:ea typeface="Nunito Sans"/>
                <a:cs typeface="Nunito Sans"/>
                <a:sym typeface="Nunito Sans"/>
              </a:rPr>
              <a:t>Only upload public or permitted documents. Local models. Privacy agreements.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0" name="Google Shape;200;g35caa9fba86_0_227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572009" y="665182"/>
            <a:ext cx="336649" cy="336649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g35caa9fba86_0_227"/>
          <p:cNvSpPr txBox="1">
            <a:spLocks noGrp="1"/>
          </p:cNvSpPr>
          <p:nvPr>
            <p:ph type="title" idx="4294967295"/>
          </p:nvPr>
        </p:nvSpPr>
        <p:spPr>
          <a:xfrm>
            <a:off x="274999" y="125650"/>
            <a:ext cx="86004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0"/>
              <a:buNone/>
            </a:pPr>
            <a:r>
              <a:rPr lang="en-US"/>
              <a:t>Limitations of LLM-Powered Text Analysis</a:t>
            </a:r>
            <a:endParaRPr/>
          </a:p>
        </p:txBody>
      </p:sp>
      <p:cxnSp>
        <p:nvCxnSpPr>
          <p:cNvPr id="202" name="Google Shape;202;g35caa9fba86_0_227"/>
          <p:cNvCxnSpPr/>
          <p:nvPr/>
        </p:nvCxnSpPr>
        <p:spPr>
          <a:xfrm>
            <a:off x="359564" y="485653"/>
            <a:ext cx="558300" cy="0"/>
          </a:xfrm>
          <a:prstGeom prst="straightConnector1">
            <a:avLst/>
          </a:prstGeom>
          <a:noFill/>
          <a:ln w="38100" cap="flat" cmpd="sng">
            <a:solidFill>
              <a:srgbClr val="57A7B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e9ee578634_0_147"/>
          <p:cNvSpPr txBox="1">
            <a:spLocks noGrp="1"/>
          </p:cNvSpPr>
          <p:nvPr>
            <p:ph type="title" idx="4294967295"/>
          </p:nvPr>
        </p:nvSpPr>
        <p:spPr>
          <a:xfrm>
            <a:off x="275004" y="125650"/>
            <a:ext cx="68406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0"/>
              <a:buNone/>
            </a:pPr>
            <a:r>
              <a:rPr lang="en-US"/>
              <a:t>Full Walkthroughs</a:t>
            </a:r>
            <a:endParaRPr/>
          </a:p>
        </p:txBody>
      </p:sp>
      <p:cxnSp>
        <p:nvCxnSpPr>
          <p:cNvPr id="241" name="Google Shape;241;g3e9ee578634_0_147"/>
          <p:cNvCxnSpPr/>
          <p:nvPr/>
        </p:nvCxnSpPr>
        <p:spPr>
          <a:xfrm>
            <a:off x="359564" y="485653"/>
            <a:ext cx="558300" cy="0"/>
          </a:xfrm>
          <a:prstGeom prst="straightConnector1">
            <a:avLst/>
          </a:prstGeom>
          <a:noFill/>
          <a:ln w="38100" cap="flat" cmpd="sng">
            <a:solidFill>
              <a:srgbClr val="57A7B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242" name="Google Shape;242;g3e9ee578634_0_147" title="CleanShot 2026-05-24 at 19.25.34@2x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6350" y="834600"/>
            <a:ext cx="3825277" cy="2846524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g3e9ee578634_0_147"/>
          <p:cNvSpPr txBox="1"/>
          <p:nvPr/>
        </p:nvSpPr>
        <p:spPr>
          <a:xfrm>
            <a:off x="5116275" y="4153900"/>
            <a:ext cx="3650100" cy="4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/>
              <a:t>https://www.youtube.com/watch?v=Ki2OBrW1HFU</a:t>
            </a:r>
            <a:endParaRPr sz="1100"/>
          </a:p>
        </p:txBody>
      </p:sp>
      <p:sp>
        <p:nvSpPr>
          <p:cNvPr id="244" name="Google Shape;244;g3e9ee578634_0_147"/>
          <p:cNvSpPr txBox="1"/>
          <p:nvPr/>
        </p:nvSpPr>
        <p:spPr>
          <a:xfrm>
            <a:off x="765525" y="4153900"/>
            <a:ext cx="3650100" cy="4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/>
              <a:t>https://www.youtube.com/watch?v=bXN9B8_Pfl8</a:t>
            </a:r>
            <a:endParaRPr sz="1100"/>
          </a:p>
        </p:txBody>
      </p:sp>
      <p:pic>
        <p:nvPicPr>
          <p:cNvPr id="245" name="Google Shape;245;g3e9ee578634_0_147" title="CleanShot 2026-05-25 at 00.04.03@2x.jpg"/>
          <p:cNvPicPr preferRelativeResize="0"/>
          <p:nvPr/>
        </p:nvPicPr>
        <p:blipFill rotWithShape="1">
          <a:blip r:embed="rId4">
            <a:alphaModFix/>
          </a:blip>
          <a:srcRect b="9527"/>
          <a:stretch/>
        </p:blipFill>
        <p:spPr>
          <a:xfrm>
            <a:off x="4485400" y="736325"/>
            <a:ext cx="4382999" cy="3043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39d39d9a122_0_19"/>
          <p:cNvSpPr txBox="1">
            <a:spLocks noGrp="1"/>
          </p:cNvSpPr>
          <p:nvPr>
            <p:ph type="title"/>
          </p:nvPr>
        </p:nvSpPr>
        <p:spPr>
          <a:xfrm>
            <a:off x="274999" y="125650"/>
            <a:ext cx="82116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0"/>
              <a:buNone/>
            </a:pPr>
            <a:r>
              <a:rPr lang="en-US"/>
              <a:t>From spreadsheets → Qualitative Data Analysis?</a:t>
            </a:r>
            <a:endParaRPr/>
          </a:p>
        </p:txBody>
      </p:sp>
      <p:cxnSp>
        <p:nvCxnSpPr>
          <p:cNvPr id="252" name="Google Shape;252;g39d39d9a122_0_19"/>
          <p:cNvCxnSpPr/>
          <p:nvPr/>
        </p:nvCxnSpPr>
        <p:spPr>
          <a:xfrm>
            <a:off x="359564" y="485653"/>
            <a:ext cx="558300" cy="0"/>
          </a:xfrm>
          <a:prstGeom prst="straightConnector1">
            <a:avLst/>
          </a:prstGeom>
          <a:noFill/>
          <a:ln w="38100" cap="flat" cmpd="sng">
            <a:solidFill>
              <a:srgbClr val="57A7B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253" name="Google Shape;253;g39d39d9a122_0_19" title="ChatGPT Image May 23, 2025, 03_33_31 PM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45975" y="640725"/>
            <a:ext cx="2812124" cy="2812124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g39d39d9a122_0_19"/>
          <p:cNvSpPr/>
          <p:nvPr/>
        </p:nvSpPr>
        <p:spPr>
          <a:xfrm>
            <a:off x="522500" y="3987100"/>
            <a:ext cx="79641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417D86"/>
              </a:buClr>
              <a:buSzPts val="2800"/>
              <a:buFont typeface="Nunito Sans"/>
              <a:buNone/>
            </a:pPr>
            <a:r>
              <a:rPr lang="en-US" sz="1600" b="1" i="0" u="none" strike="noStrike" cap="none">
                <a:solidFill>
                  <a:srgbClr val="417D86"/>
                </a:solidFill>
                <a:latin typeface="Nunito Sans"/>
                <a:ea typeface="Nunito Sans"/>
                <a:cs typeface="Nunito Sans"/>
                <a:sym typeface="Nunito Sans"/>
              </a:rPr>
              <a:t>IDEA: Could we use the API in Google Sheets setup for qualitative data analysis?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g39d39d9a122_0_19"/>
          <p:cNvSpPr txBox="1"/>
          <p:nvPr/>
        </p:nvSpPr>
        <p:spPr>
          <a:xfrm>
            <a:off x="1527650" y="4294000"/>
            <a:ext cx="6537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Answer: </a:t>
            </a:r>
            <a:r>
              <a:rPr lang="en-US" sz="15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Possible</a:t>
            </a:r>
            <a:r>
              <a:rPr lang="en-US" sz="15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 But best to use a dedicated tool. </a:t>
            </a:r>
            <a:r>
              <a:rPr lang="en-US" sz="15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e.g. Atlas TI, NVIVO</a:t>
            </a:r>
            <a:endParaRPr sz="15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39d39d9a122_0_30"/>
          <p:cNvSpPr txBox="1">
            <a:spLocks noGrp="1"/>
          </p:cNvSpPr>
          <p:nvPr>
            <p:ph type="title"/>
          </p:nvPr>
        </p:nvSpPr>
        <p:spPr>
          <a:xfrm>
            <a:off x="274999" y="125650"/>
            <a:ext cx="82116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0"/>
              <a:buNone/>
            </a:pPr>
            <a:r>
              <a:rPr lang="en-US"/>
              <a:t>Which parts of qualitative analysis are most amenable to AI help?</a:t>
            </a:r>
            <a:endParaRPr/>
          </a:p>
        </p:txBody>
      </p:sp>
      <p:cxnSp>
        <p:nvCxnSpPr>
          <p:cNvPr id="262" name="Google Shape;262;g39d39d9a122_0_30"/>
          <p:cNvCxnSpPr/>
          <p:nvPr/>
        </p:nvCxnSpPr>
        <p:spPr>
          <a:xfrm>
            <a:off x="359564" y="485653"/>
            <a:ext cx="558300" cy="0"/>
          </a:xfrm>
          <a:prstGeom prst="straightConnector1">
            <a:avLst/>
          </a:prstGeom>
          <a:noFill/>
          <a:ln w="38100" cap="flat" cmpd="sng">
            <a:solidFill>
              <a:srgbClr val="57A7B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263" name="Google Shape;263;g39d39d9a122_0_30" title="CleanShot 2025-10-26 at 16.01.19.jp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97025" y="557325"/>
            <a:ext cx="6397284" cy="43530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9d39d9a122_0_40"/>
          <p:cNvSpPr txBox="1">
            <a:spLocks noGrp="1"/>
          </p:cNvSpPr>
          <p:nvPr>
            <p:ph type="title"/>
          </p:nvPr>
        </p:nvSpPr>
        <p:spPr>
          <a:xfrm>
            <a:off x="274999" y="125650"/>
            <a:ext cx="82116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0"/>
              <a:buNone/>
            </a:pPr>
            <a:r>
              <a:rPr lang="en-US"/>
              <a:t>AI Transcription &amp; Translation</a:t>
            </a:r>
            <a:endParaRPr/>
          </a:p>
        </p:txBody>
      </p:sp>
      <p:cxnSp>
        <p:nvCxnSpPr>
          <p:cNvPr id="270" name="Google Shape;270;g39d39d9a122_0_40"/>
          <p:cNvCxnSpPr/>
          <p:nvPr/>
        </p:nvCxnSpPr>
        <p:spPr>
          <a:xfrm>
            <a:off x="359564" y="485653"/>
            <a:ext cx="558300" cy="0"/>
          </a:xfrm>
          <a:prstGeom prst="straightConnector1">
            <a:avLst/>
          </a:prstGeom>
          <a:noFill/>
          <a:ln w="38100" cap="flat" cmpd="sng">
            <a:solidFill>
              <a:srgbClr val="57A7B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271" name="Google Shape;271;g39d39d9a122_0_40" title="CleanShot 2025-10-26 at 15.07.47@2x.jp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69650" y="485650"/>
            <a:ext cx="4504580" cy="4353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9d39d9a122_0_48"/>
          <p:cNvSpPr txBox="1">
            <a:spLocks noGrp="1"/>
          </p:cNvSpPr>
          <p:nvPr>
            <p:ph type="title"/>
          </p:nvPr>
        </p:nvSpPr>
        <p:spPr>
          <a:xfrm>
            <a:off x="274999" y="125650"/>
            <a:ext cx="82116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0"/>
              <a:buNone/>
            </a:pPr>
            <a:r>
              <a:rPr lang="en-US"/>
              <a:t>Demo of thematic Coding in Atlas TI</a:t>
            </a:r>
            <a:endParaRPr/>
          </a:p>
        </p:txBody>
      </p:sp>
      <p:cxnSp>
        <p:nvCxnSpPr>
          <p:cNvPr id="278" name="Google Shape;278;g39d39d9a122_0_48"/>
          <p:cNvCxnSpPr/>
          <p:nvPr/>
        </p:nvCxnSpPr>
        <p:spPr>
          <a:xfrm>
            <a:off x="359564" y="485653"/>
            <a:ext cx="558300" cy="0"/>
          </a:xfrm>
          <a:prstGeom prst="straightConnector1">
            <a:avLst/>
          </a:prstGeom>
          <a:noFill/>
          <a:ln w="38100" cap="flat" cmpd="sng">
            <a:solidFill>
              <a:srgbClr val="57A7B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9" name="Google Shape;279;g39d39d9a122_0_48"/>
          <p:cNvSpPr txBox="1"/>
          <p:nvPr/>
        </p:nvSpPr>
        <p:spPr>
          <a:xfrm>
            <a:off x="505875" y="604625"/>
            <a:ext cx="5322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Start at 1:50: https://www.youtube.com/watch?v=QJVC1h2qzv4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0" name="Google Shape;280;g39d39d9a122_0_48" title="CleanShot 2025-10-26 at 16.07.29@2x.jp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81413" y="1123800"/>
            <a:ext cx="7157263" cy="37149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9d39d9a122_0_103"/>
          <p:cNvSpPr txBox="1">
            <a:spLocks noGrp="1"/>
          </p:cNvSpPr>
          <p:nvPr>
            <p:ph type="title" idx="4294967295"/>
          </p:nvPr>
        </p:nvSpPr>
        <p:spPr>
          <a:xfrm>
            <a:off x="274999" y="125650"/>
            <a:ext cx="86004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0"/>
              <a:buNone/>
            </a:pPr>
            <a:r>
              <a:rPr lang="en-US"/>
              <a:t>Built in AI function with Google Sheets</a:t>
            </a:r>
            <a:endParaRPr/>
          </a:p>
        </p:txBody>
      </p:sp>
      <p:cxnSp>
        <p:nvCxnSpPr>
          <p:cNvPr id="173" name="Google Shape;173;g39d39d9a122_0_103"/>
          <p:cNvCxnSpPr/>
          <p:nvPr/>
        </p:nvCxnSpPr>
        <p:spPr>
          <a:xfrm>
            <a:off x="359564" y="485653"/>
            <a:ext cx="558300" cy="0"/>
          </a:xfrm>
          <a:prstGeom prst="straightConnector1">
            <a:avLst/>
          </a:prstGeom>
          <a:noFill/>
          <a:ln w="38100" cap="flat" cmpd="sng">
            <a:solidFill>
              <a:srgbClr val="57A7B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74" name="Google Shape;174;g39d39d9a122_0_103" title="CleanShot 2025-10-26 at 18.26.35@2x.jp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233549" y="693675"/>
            <a:ext cx="4726426" cy="4066374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g39d39d9a122_0_103"/>
          <p:cNvSpPr txBox="1">
            <a:spLocks noGrp="1"/>
          </p:cNvSpPr>
          <p:nvPr>
            <p:ph type="title" idx="4294967295"/>
          </p:nvPr>
        </p:nvSpPr>
        <p:spPr>
          <a:xfrm>
            <a:off x="359575" y="693675"/>
            <a:ext cx="3873900" cy="110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33332"/>
              <a:buNone/>
            </a:pPr>
            <a:r>
              <a:rPr lang="en-US" sz="2000"/>
              <a:t>Limitations</a:t>
            </a:r>
            <a:endParaRPr sz="200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33332"/>
              <a:buNone/>
            </a:pPr>
            <a:r>
              <a:rPr lang="en-US" sz="2000" b="0"/>
              <a:t>• Limited control over models</a:t>
            </a:r>
            <a:endParaRPr sz="2000" b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33332"/>
              <a:buFont typeface="Arial"/>
              <a:buNone/>
            </a:pPr>
            <a:r>
              <a:rPr lang="en-US" sz="2000" b="0"/>
              <a:t>• Opaque pricing and rate limits</a:t>
            </a:r>
            <a:endParaRPr sz="2000" b="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33332"/>
              <a:buNone/>
            </a:pPr>
            <a:endParaRPr sz="20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e9ee578634_0_161"/>
          <p:cNvSpPr txBox="1">
            <a:spLocks noGrp="1"/>
          </p:cNvSpPr>
          <p:nvPr>
            <p:ph type="title" idx="4294967295"/>
          </p:nvPr>
        </p:nvSpPr>
        <p:spPr>
          <a:xfrm>
            <a:off x="274999" y="125650"/>
            <a:ext cx="86004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0"/>
              <a:buNone/>
            </a:pPr>
            <a:r>
              <a:rPr lang="en-US"/>
              <a:t>LLM API calls directly with code</a:t>
            </a:r>
            <a:endParaRPr/>
          </a:p>
        </p:txBody>
      </p:sp>
      <p:cxnSp>
        <p:nvCxnSpPr>
          <p:cNvPr id="181" name="Google Shape;181;g3e9ee578634_0_161"/>
          <p:cNvCxnSpPr/>
          <p:nvPr/>
        </p:nvCxnSpPr>
        <p:spPr>
          <a:xfrm>
            <a:off x="359564" y="485653"/>
            <a:ext cx="558300" cy="0"/>
          </a:xfrm>
          <a:prstGeom prst="straightConnector1">
            <a:avLst/>
          </a:prstGeom>
          <a:noFill/>
          <a:ln w="38100" cap="flat" cmpd="sng">
            <a:solidFill>
              <a:srgbClr val="57A7B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82" name="Google Shape;182;g3e9ee578634_0_161" title="CleanShot 2026-05-25 at 00.07.36@2x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25500" y="291550"/>
            <a:ext cx="4449890" cy="4353048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g3e9ee578634_0_161"/>
          <p:cNvSpPr txBox="1">
            <a:spLocks noGrp="1"/>
          </p:cNvSpPr>
          <p:nvPr>
            <p:ph type="title" idx="4294967295"/>
          </p:nvPr>
        </p:nvSpPr>
        <p:spPr>
          <a:xfrm>
            <a:off x="359575" y="693675"/>
            <a:ext cx="3969900" cy="11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40349"/>
              <a:buNone/>
            </a:pPr>
            <a:endParaRPr sz="1900" b="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40349"/>
              <a:buNone/>
            </a:pPr>
            <a:r>
              <a:rPr lang="en-US" sz="1900" b="0"/>
              <a:t>• NOTE: Requires you to get your own OpenAI API key</a:t>
            </a:r>
            <a:endParaRPr sz="1900" b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40349"/>
              <a:buFont typeface="Arial"/>
              <a:buNone/>
            </a:pPr>
            <a:r>
              <a:rPr lang="en-US" sz="1900" b="0"/>
              <a:t>• In R, equivalent workflow can be built with the </a:t>
            </a:r>
            <a:r>
              <a:rPr lang="en-US" sz="1900"/>
              <a:t>ellmer</a:t>
            </a:r>
            <a:r>
              <a:rPr lang="en-US" sz="1900" b="0"/>
              <a:t> library</a:t>
            </a:r>
            <a:endParaRPr sz="1900" b="0"/>
          </a:p>
        </p:txBody>
      </p:sp>
      <p:sp>
        <p:nvSpPr>
          <p:cNvPr id="184" name="Google Shape;184;g3e9ee578634_0_161"/>
          <p:cNvSpPr txBox="1"/>
          <p:nvPr/>
        </p:nvSpPr>
        <p:spPr>
          <a:xfrm>
            <a:off x="359575" y="4693225"/>
            <a:ext cx="8819100" cy="5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67"/>
              <a:buFont typeface="Arial"/>
              <a:buNone/>
            </a:pPr>
            <a:r>
              <a:rPr lang="en-US" u="sng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thegraphcourses.org/courses/ai-llm-automations-with-python/topics/using-the-openai-llm-api-with-python/</a:t>
            </a:r>
            <a:endParaRPr>
              <a:solidFill>
                <a:srgbClr val="20293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5caa9fba86_0_248"/>
          <p:cNvSpPr txBox="1">
            <a:spLocks noGrp="1"/>
          </p:cNvSpPr>
          <p:nvPr>
            <p:ph type="body" idx="1"/>
          </p:nvPr>
        </p:nvSpPr>
        <p:spPr>
          <a:xfrm>
            <a:off x="0" y="792759"/>
            <a:ext cx="9144000" cy="2326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Discussion question 1: </a:t>
            </a:r>
            <a:endParaRPr sz="2400" b="1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en-US" sz="2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What applications of AI in research/literature review do you think are promising and responsible?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endParaRPr lang="en-US" sz="2400" dirty="0"/>
          </a:p>
          <a:p>
            <a:pPr marL="0" marR="0" lvl="0" indent="0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en-US" sz="2400" dirty="0"/>
              <a:t>How should AI use be disclosed for these?</a:t>
            </a:r>
          </a:p>
        </p:txBody>
      </p:sp>
      <p:pic>
        <p:nvPicPr>
          <p:cNvPr id="286" name="Google Shape;286;g35caa9fba86_0_248"/>
          <p:cNvPicPr preferRelativeResize="0"/>
          <p:nvPr/>
        </p:nvPicPr>
        <p:blipFill rotWithShape="1">
          <a:blip r:embed="rId3">
            <a:alphaModFix/>
          </a:blip>
          <a:srcRect t="23130"/>
          <a:stretch/>
        </p:blipFill>
        <p:spPr>
          <a:xfrm>
            <a:off x="2624775" y="3093774"/>
            <a:ext cx="4120926" cy="31677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854db5e084_0_0"/>
          <p:cNvSpPr txBox="1">
            <a:spLocks noGrp="1"/>
          </p:cNvSpPr>
          <p:nvPr>
            <p:ph type="title" idx="4294967295"/>
          </p:nvPr>
        </p:nvSpPr>
        <p:spPr>
          <a:xfrm>
            <a:off x="275004" y="125650"/>
            <a:ext cx="68406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11110"/>
              <a:buNone/>
            </a:pPr>
            <a:r>
              <a:rPr lang="en-US" dirty="0"/>
              <a:t>More than halfway through core content</a:t>
            </a:r>
            <a:endParaRPr dirty="0"/>
          </a:p>
        </p:txBody>
      </p:sp>
      <p:cxnSp>
        <p:nvCxnSpPr>
          <p:cNvPr id="292" name="Google Shape;292;g3854db5e084_0_0"/>
          <p:cNvCxnSpPr/>
          <p:nvPr/>
        </p:nvCxnSpPr>
        <p:spPr>
          <a:xfrm>
            <a:off x="359564" y="485653"/>
            <a:ext cx="558300" cy="0"/>
          </a:xfrm>
          <a:prstGeom prst="straightConnector1">
            <a:avLst/>
          </a:prstGeom>
          <a:noFill/>
          <a:ln w="38100" cap="flat" cmpd="sng">
            <a:solidFill>
              <a:srgbClr val="57A7B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293" name="Google Shape;293;g3854db5e084_0_0" title="CleanShot 2025-08-31 at 19.26.20@2x.jp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2400" y="1256049"/>
            <a:ext cx="4207299" cy="28308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94" name="Google Shape;294;g3854db5e084_0_0" title="CleanShot 2025-08-31 at 19.26.28@2x.jp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08100" y="1292175"/>
            <a:ext cx="4207299" cy="28288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95" name="Google Shape;295;g3854db5e084_0_0"/>
          <p:cNvCxnSpPr/>
          <p:nvPr/>
        </p:nvCxnSpPr>
        <p:spPr>
          <a:xfrm>
            <a:off x="4527089" y="1065690"/>
            <a:ext cx="7800" cy="3563400"/>
          </a:xfrm>
          <a:prstGeom prst="straightConnector1">
            <a:avLst/>
          </a:prstGeom>
          <a:noFill/>
          <a:ln w="38100" cap="flat" cmpd="sng">
            <a:solidFill>
              <a:srgbClr val="57A7B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96" name="Google Shape;296;g3854db5e084_0_0"/>
          <p:cNvSpPr txBox="1">
            <a:spLocks noGrp="1"/>
          </p:cNvSpPr>
          <p:nvPr>
            <p:ph type="title" idx="4294967295"/>
          </p:nvPr>
        </p:nvSpPr>
        <p:spPr>
          <a:xfrm>
            <a:off x="463527" y="783975"/>
            <a:ext cx="38385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1460" b="0"/>
              <a:t>Focused on researchers and data analysts</a:t>
            </a:r>
            <a:endParaRPr sz="1460" b="0"/>
          </a:p>
        </p:txBody>
      </p:sp>
      <p:sp>
        <p:nvSpPr>
          <p:cNvPr id="297" name="Google Shape;297;g3854db5e084_0_0"/>
          <p:cNvSpPr txBox="1">
            <a:spLocks noGrp="1"/>
          </p:cNvSpPr>
          <p:nvPr>
            <p:ph type="title" idx="4294967295"/>
          </p:nvPr>
        </p:nvSpPr>
        <p:spPr>
          <a:xfrm>
            <a:off x="5904327" y="783975"/>
            <a:ext cx="38385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US" sz="1460" b="0" dirty="0"/>
              <a:t>More broadly-directed</a:t>
            </a:r>
            <a:endParaRPr sz="1460" b="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3" name="Google Shape;303;g35caa9fba86_0_217"/>
          <p:cNvCxnSpPr/>
          <p:nvPr/>
        </p:nvCxnSpPr>
        <p:spPr>
          <a:xfrm>
            <a:off x="359564" y="485653"/>
            <a:ext cx="558300" cy="0"/>
          </a:xfrm>
          <a:prstGeom prst="straightConnector1">
            <a:avLst/>
          </a:prstGeom>
          <a:noFill/>
          <a:ln w="38100" cap="flat" cmpd="sng">
            <a:solidFill>
              <a:srgbClr val="57A7B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04" name="Google Shape;304;g35caa9fba86_0_217"/>
          <p:cNvSpPr txBox="1"/>
          <p:nvPr/>
        </p:nvSpPr>
        <p:spPr>
          <a:xfrm>
            <a:off x="266609" y="96736"/>
            <a:ext cx="6446700" cy="3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Remember to leave anonymous feedback</a:t>
            </a:r>
            <a:endParaRPr sz="10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5" name="Google Shape;305;g35caa9fba86_0_217"/>
          <p:cNvCxnSpPr/>
          <p:nvPr/>
        </p:nvCxnSpPr>
        <p:spPr>
          <a:xfrm>
            <a:off x="359564" y="485653"/>
            <a:ext cx="558300" cy="0"/>
          </a:xfrm>
          <a:prstGeom prst="straightConnector1">
            <a:avLst/>
          </a:prstGeom>
          <a:noFill/>
          <a:ln w="38100" cap="flat" cmpd="sng">
            <a:solidFill>
              <a:srgbClr val="57A7B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306" name="Google Shape;306;g35caa9fba86_0_2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2400" y="626236"/>
            <a:ext cx="8839201" cy="1931122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g35caa9fba86_0_21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66975" y="2603408"/>
            <a:ext cx="5358620" cy="22813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5caa9fba86_0_207"/>
          <p:cNvSpPr txBox="1"/>
          <p:nvPr/>
        </p:nvSpPr>
        <p:spPr>
          <a:xfrm>
            <a:off x="359569" y="2306256"/>
            <a:ext cx="4460100" cy="99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THANK YOU SO MUCH!</a:t>
            </a:r>
            <a:endParaRPr sz="3000" b="1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See you next week :)</a:t>
            </a:r>
            <a:endParaRPr sz="3000" b="1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E5769"/>
      </a:accent1>
      <a:accent2>
        <a:srgbClr val="57A7B3"/>
      </a:accent2>
      <a:accent3>
        <a:srgbClr val="A5A5A5"/>
      </a:accent3>
      <a:accent4>
        <a:srgbClr val="97A6C7"/>
      </a:accent4>
      <a:accent5>
        <a:srgbClr val="5B9BD5"/>
      </a:accent5>
      <a:accent6>
        <a:srgbClr val="A3B4C0"/>
      </a:accent6>
      <a:hlink>
        <a:srgbClr val="57A7B3"/>
      </a:hlink>
      <a:folHlink>
        <a:srgbClr val="A3B4C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941</Words>
  <Application>Microsoft Macintosh PowerPoint</Application>
  <PresentationFormat>On-screen Show (16:9)</PresentationFormat>
  <Paragraphs>147</Paragraphs>
  <Slides>27</Slides>
  <Notes>25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Arial</vt:lpstr>
      <vt:lpstr>Calibri</vt:lpstr>
      <vt:lpstr>Avenir</vt:lpstr>
      <vt:lpstr>Nunito Sans</vt:lpstr>
      <vt:lpstr>Office Theme</vt:lpstr>
      <vt:lpstr>Help Session Note</vt:lpstr>
      <vt:lpstr>Generative AI for Work &amp; Research</vt:lpstr>
      <vt:lpstr>Workshop Schedule</vt:lpstr>
      <vt:lpstr>PowerPoint Presentation</vt:lpstr>
      <vt:lpstr>PowerPoint Presentation</vt:lpstr>
      <vt:lpstr>Workshop Intro</vt:lpstr>
      <vt:lpstr>Pre-work recap: using LLMs in spreadsheets</vt:lpstr>
      <vt:lpstr>Reminder of pre-work </vt:lpstr>
      <vt:lpstr>PowerPoint Presentation</vt:lpstr>
      <vt:lpstr>From spreadsheets → Academic Literature Review?</vt:lpstr>
      <vt:lpstr>PowerPoint Presentation</vt:lpstr>
      <vt:lpstr>EXERCISE TIME</vt:lpstr>
      <vt:lpstr>PowerPoint Presentation</vt:lpstr>
      <vt:lpstr>Demo of Elicit: LLM-Powered Literature Review</vt:lpstr>
      <vt:lpstr>PowerPoint Presentation</vt:lpstr>
      <vt:lpstr>Limitations of LLM-Powered Text Analysis</vt:lpstr>
      <vt:lpstr>Full Walkthroughs</vt:lpstr>
      <vt:lpstr>From spreadsheets → Qualitative Data Analysis?</vt:lpstr>
      <vt:lpstr>Which parts of qualitative analysis are most amenable to AI help?</vt:lpstr>
      <vt:lpstr>AI Transcription &amp; Translation</vt:lpstr>
      <vt:lpstr>Demo of thematic Coding in Atlas TI</vt:lpstr>
      <vt:lpstr>Built in AI function with Google Sheets</vt:lpstr>
      <vt:lpstr>LLM API calls directly with code</vt:lpstr>
      <vt:lpstr>PowerPoint Presentation</vt:lpstr>
      <vt:lpstr>More than halfway through core content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Kenechukwu Nwosu</cp:lastModifiedBy>
  <cp:revision>2</cp:revision>
  <dcterms:modified xsi:type="dcterms:W3CDTF">2026-10-18T11:59:11Z</dcterms:modified>
</cp:coreProperties>
</file>