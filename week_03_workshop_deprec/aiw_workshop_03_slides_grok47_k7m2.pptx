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82e5bc91-8489-1294-efe8-c86b0f6a15c5}">
          <p14:sldIdLst>
            <p14:sldId id="256"/>
            <p14:sldId id="257"/>
            <p14:sldId id="258"/>
          </p14:sldIdLst>
        </p14:section>
        <p14:section name="Today" id="{d914fb8b-2d3b-0e5e-b127-7976f04d79e4}">
          <p14:sldIdLst>
            <p14:sldId id="259"/>
            <p14:sldId id="260"/>
            <p14:sldId id="261"/>
            <p14:sldId id="262"/>
          </p14:sldIdLst>
        </p14:section>
        <p14:section name="Method" id="{74d51104-c20c-9577-bfbd-b0c22df605dd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lose" id="{02d9c1f9-66e4-c5de-acb2-2502ef2adee3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while people arrive. Today is not the job-postings sheet. Two collections, SciSpace for the table, then any paid chat tool for one chart, then a hand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welcome short. No Kahoot. The exercise is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prework video if someone missed it, then pivot. Do not live-code MYGPT unless the room is stuck.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from Sheets. Same pattern, different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pick one. Same SciSpace steps either way. Do not offer the cholera reports or the student-finance interviews.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Internet deactivation is in the set on purpose, next to the social media breaks. Schmidt-Persson cuts household screen time. Walsh restricts digital media, not only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is in the file name. All files are English translations. Mention privacy before anyone thinks of uploading their own transcripts.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let the room invent columns. The closed labels are what make the chart possible. Four rows are reviews: Lemahieu, Liu, May, Ramadhan.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person can mention more than one barrier. The chart counts interviews, not exclusive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plan may block export and may cap custom columns. The folder chat is the table we keep. Public FAQ currently advertises 50 columns; the free plan in the 14 Oct pilot was stricter. If a paywall pop-up appears, close it and use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separate Cursor extractor track. If someone has no paid model, add them to the course ChatGPT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model recodes a label, they should be able to disagree in the interpretation. The prompt asks it to show the social-media versus internet 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part we actually grade for honesty. A check that only says 'all correct' is not a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PDF or HTML. They do not submit the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Carry the old limitations slide forward, tied to this task. No local-model detour unless someone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the instructions on screen. Stay available for SciSpace upload and copy-paste problems. The prompts are in the workshop page, not on this slide, so they can copy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accuracy check, not on the tool. Thank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C2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65960"/>
            <a:ext cx="107899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033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WORK AND RESEARCH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9659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pile of PDFs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table you can check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7033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3. Pick papers or interviews.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columns and the chart are already chosen.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session runs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02920" y="1188720"/>
            <a:ext cx="11155680" cy="1078992"/>
          </a:xfrm>
          <a:prstGeom prst="roundRect">
            <a:avLst>
              <a:gd name="adj" fmla="val 847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447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35331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Prework recap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7556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Sheets, one row at a time. Then we leave it.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02920" y="2423160"/>
            <a:ext cx="11155680" cy="1078992"/>
          </a:xfrm>
          <a:prstGeom prst="roundRect">
            <a:avLst>
              <a:gd name="adj" fmla="val 8475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26791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5877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99008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collections, the columns, and the chart.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502920" y="3657600"/>
            <a:ext cx="11155680" cy="1078992"/>
          </a:xfrm>
          <a:prstGeom prst="roundRect">
            <a:avLst>
              <a:gd name="adj" fmla="val 847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39136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min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382219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build it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42245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table, chart it, check three files.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502920" y="4892040"/>
            <a:ext cx="11155680" cy="1078992"/>
          </a:xfrm>
          <a:prstGeom prst="roundRect">
            <a:avLst>
              <a:gd name="adj" fmla="val 8475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51480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50566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4589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got wrong is the interesting part.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Prework in one minute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02920" y="1188720"/>
            <a:ext cx="6858000" cy="4937760"/>
          </a:xfrm>
          <a:prstGeom prst="roundRect">
            <a:avLst>
              <a:gd name="adj" fmla="val 18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cell in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5623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MYGPT sends a single job description, not the whole sheet.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1927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google/gemini-2.5-flash. The preview model in the video is gone.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434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freeze it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78231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values only, so the column does not call the API again.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7589520" y="1188720"/>
            <a:ext cx="4069080" cy="4937760"/>
          </a:xfrm>
          <a:prstGeom prst="roundRect">
            <a:avLst>
              <a:gd name="adj" fmla="val 224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true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031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video is the prework.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rebuilding the job-market sheet today.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4709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Sheets is not in English: File, Settings, Always use English function names.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one document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chat upload of 20 long PDFs tends to do three things.</a:t>
            </a:r>
            <a:endParaRPr lang="en-US" sz="1800" dirty="0"/>
          </a:p>
        </p:txBody>
      </p:sp>
      <p:sp>
        <p:nvSpPr>
          <p:cNvPr id="4" name="card"/>
          <p:cNvSpPr/>
          <p:nvPr/>
        </p:nvSpPr>
        <p:spPr>
          <a:xfrm>
            <a:off x="502920" y="1737360"/>
            <a:ext cx="3611880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5" name="chip"/>
          <p:cNvSpPr/>
          <p:nvPr/>
        </p:nvSpPr>
        <p:spPr>
          <a:xfrm>
            <a:off x="758952" y="1965960"/>
            <a:ext cx="1051560" cy="420624"/>
          </a:xfrm>
          <a:prstGeom prst="roundRect">
            <a:avLst>
              <a:gd name="adj" fmla="val 17391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200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start of each file and skips the result you needed.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343400" y="1737360"/>
            <a:ext cx="3611880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0" name="chip"/>
          <p:cNvSpPr/>
          <p:nvPr/>
        </p:nvSpPr>
        <p:spPr>
          <a:xfrm>
            <a:off x="4599432" y="1965960"/>
            <a:ext cx="1051560" cy="420624"/>
          </a:xfrm>
          <a:prstGeom prst="roundRect">
            <a:avLst>
              <a:gd name="adj" fmla="val 17391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200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disappears and the table still looks complete.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8183880" y="1737360"/>
            <a:ext cx="3611880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5" name="chip"/>
          <p:cNvSpPr/>
          <p:nvPr/>
        </p:nvSpPr>
        <p:spPr>
          <a:xfrm>
            <a:off x="8439912" y="1965960"/>
            <a:ext cx="1051560" cy="420624"/>
          </a:xfrm>
          <a:prstGeom prst="roundRect">
            <a:avLst>
              <a:gd name="adj" fmla="val 17391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39912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39912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439912" y="3200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from one paper lands in the row for another.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SciSpace asks the same question of each PDF. The chat tool only sees the finished table.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one collection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02920" y="1234440"/>
            <a:ext cx="548640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4" name="card"/>
          <p:cNvSpPr/>
          <p:nvPr/>
        </p:nvSpPr>
        <p:spPr>
          <a:xfrm>
            <a:off x="6217920" y="1234440"/>
            <a:ext cx="5486400" cy="4846320"/>
          </a:xfrm>
          <a:prstGeom prst="roundRect">
            <a:avLst>
              <a:gd name="adj" fmla="val 1887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analysis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papers on breaks from social media, screens, or mobile internet.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7432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interviews about getting food after resettlement in Utah.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976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results disagree.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the point of the table.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2976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languages, translated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English.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 papers that disagree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02920" y="1188720"/>
            <a:ext cx="36118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533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in the zip, including four reviews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343400" y="1188720"/>
            <a:ext cx="36118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0" y="13533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kinds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945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breaks, and broader internet or screen blocks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8183880" y="1188720"/>
            <a:ext cx="36118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0" y="13533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labels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1945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Improved, No clear effect, Mixed, Worse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02920" y="3566160"/>
            <a:ext cx="11155680" cy="2514600"/>
          </a:xfrm>
          <a:prstGeom prst="roundRect">
            <a:avLst>
              <a:gd name="adj" fmla="val 3636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 point at in the demo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206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Allcott deactivates Facebook, then Facebook and Instagram, for weeks.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Castelo blocks mobile internet on the phone for two weeks. Calls and texts stay on.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 interviews about food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02920" y="1188720"/>
            <a:ext cx="7406640" cy="4892040"/>
          </a:xfrm>
          <a:prstGeom prst="roundRect">
            <a:avLst>
              <a:gd name="adj" fmla="val 186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Refugees in Utah, talking about food after resettlement: cost, transport, work, benefits, and what changed over time.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9260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published set has 36 interviews.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use 20 so the upload finishes in the session.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2976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transcripts, CC BY. Do not upload your own organisation's interviews.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8138160" y="1188720"/>
            <a:ext cx="352044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321040" y="138988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14813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8138160" y="2423160"/>
            <a:ext cx="352044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1040" y="26243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27157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38160" y="3657600"/>
            <a:ext cx="352044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21040" y="385876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3950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8138160" y="4892040"/>
            <a:ext cx="352044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1040" y="509320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51846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Kinyarwanda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Papers: five columns, already written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4846320"/>
        </p:xfrm>
        <a:graphic>
          <a:graphicData uri="http://schemas.openxmlformats.org/drawingml/2006/table">
            <a:tbl>
              <a:tblPr/>
              <a:tblGrid>
                <a:gridCol w="2834640"/>
                <a:gridCol w="8321040"/>
              </a:tblGrid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must 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58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names only. Reviews with no single country: Multiple.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number. For a review, total participants, or else the number of studies.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type and length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Quit, limit, or block. Platforms or devices. How long. Under 15 words.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Wellbeing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of: Improved, No clear effect, Mixed, Worse.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caveat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main limitation, under 20 words.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Interviews: five columns, already written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4846320"/>
        </p:xfrm>
        <a:graphic>
          <a:graphicData uri="http://schemas.openxmlformats.org/drawingml/2006/table">
            <a:tbl>
              <a:tblPr/>
              <a:tblGrid>
                <a:gridCol w="2834640"/>
                <a:gridCol w="8321040"/>
              </a:tblGrid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2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must 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22D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barriers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from the list: cost, transport, language, work schedule, benefits, cultural foods, none.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help 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from the list: SNAP, WIC, pantry, resettlement agency, school meals, community, none.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Coping strategy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do when food runs short. Under 15 words.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over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of: Improved, Worsened, Same, Unclear.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quote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8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direct quote under 25 words. If it is not in the PDF, it is invented.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a short table, not a paragraph</a:t>
            </a:r>
            <a:endParaRPr lang="en-US" sz="3600" dirty="0"/>
          </a:p>
        </p:txBody>
      </p:sp>
      <p:sp>
        <p:nvSpPr>
          <p:cNvPr id="3" name="step"/>
          <p:cNvSpPr/>
          <p:nvPr/>
        </p:nvSpPr>
        <p:spPr>
          <a:xfrm>
            <a:off x="502920" y="1170432"/>
            <a:ext cx="6400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1704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17043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PDFs into one new SciSpace folder.</a:t>
            </a:r>
            <a:endParaRPr lang="en-US" sz="1800" dirty="0"/>
          </a:p>
        </p:txBody>
      </p:sp>
      <p:sp>
        <p:nvSpPr>
          <p:cNvPr id="7" name="step"/>
          <p:cNvSpPr/>
          <p:nvPr/>
        </p:nvSpPr>
        <p:spPr>
          <a:xfrm>
            <a:off x="502920" y="2432304"/>
            <a:ext cx="6400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323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Glance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43230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 column is enough to see the tool. It will write paragraphs.</a:t>
            </a:r>
            <a:endParaRPr lang="en-US" sz="1800" dirty="0"/>
          </a:p>
        </p:txBody>
      </p:sp>
      <p:sp>
        <p:nvSpPr>
          <p:cNvPr id="11" name="step"/>
          <p:cNvSpPr/>
          <p:nvPr/>
        </p:nvSpPr>
        <p:spPr>
          <a:xfrm>
            <a:off x="502920" y="3694176"/>
            <a:ext cx="6400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694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69417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694176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folder-chat prompt from the instructions. Demand 20 rows.</a:t>
            </a:r>
            <a:endParaRPr lang="en-US" sz="1800" dirty="0"/>
          </a:p>
        </p:txBody>
      </p:sp>
      <p:sp>
        <p:nvSpPr>
          <p:cNvPr id="15" name="step"/>
          <p:cNvSpPr/>
          <p:nvPr/>
        </p:nvSpPr>
        <p:spPr>
          <a:xfrm>
            <a:off x="502920" y="4956048"/>
            <a:ext cx="6400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4956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9560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9560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table into Sheets, screenshot it, download CSV.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a paid AI tool, for everyone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02920" y="1188720"/>
            <a:ext cx="11155680" cy="1965960"/>
          </a:xfrm>
          <a:prstGeom prst="roundRect">
            <a:avLst>
              <a:gd name="adj" fmla="val 465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the CSV. Paste the prompt from the instructions. Do not redesign the chart.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502920" y="3383280"/>
            <a:ext cx="3611880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43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Use a thinking model if you have one.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43400" y="3383280"/>
            <a:ext cx="3611880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or Gemini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4343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Fine, if that is the paid tool you already use.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8183880" y="3383280"/>
            <a:ext cx="3611880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1248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4343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people who code. Same chart, same check.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chart is already chosen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02920" y="1188720"/>
            <a:ext cx="548640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4" name="card"/>
          <p:cNvSpPr/>
          <p:nvPr/>
        </p:nvSpPr>
        <p:spPr>
          <a:xfrm>
            <a:off x="6217920" y="1188720"/>
            <a:ext cx="5486400" cy="4846320"/>
          </a:xfrm>
          <a:prstGeom prst="roundRect">
            <a:avLst>
              <a:gd name="adj" fmla="val 1887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Grouped bars: how many studies land in each wellbeing result, split by social media only versus an internet or screen block.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bar chart: how many interviews mention each food barrier.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whether the two groups look different. Four rows are reviews.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42976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text, also name the food help that comes up most. One chart only.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three files yourself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13716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documents, opened as PDFs.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them. Do not trust the table's tone.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02920" y="3017520"/>
            <a:ext cx="361188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32461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 a surprise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43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row that looked vague or too clean.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43400" y="3017520"/>
            <a:ext cx="361188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32461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Quotes must exist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4343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words are not in the transcript, the quote was invented.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8183880" y="3017520"/>
            <a:ext cx="361188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12480" y="32461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 are not one study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4343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may report a single trial from inside a review.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pieces in the report</a:t>
            </a:r>
            <a:endParaRPr lang="en-US" sz="3600" dirty="0"/>
          </a:p>
        </p:txBody>
      </p:sp>
      <p:sp>
        <p:nvSpPr>
          <p:cNvPr id="3" name="num"/>
          <p:cNvSpPr/>
          <p:nvPr/>
        </p:nvSpPr>
        <p:spPr>
          <a:xfrm>
            <a:off x="548640" y="120700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07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1612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16128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collection, and what you wanted to find out.</a:t>
            </a:r>
            <a:endParaRPr lang="en-US" sz="1800" dirty="0"/>
          </a:p>
        </p:txBody>
      </p:sp>
      <p:sp>
        <p:nvSpPr>
          <p:cNvPr id="7" name="num"/>
          <p:cNvSpPr/>
          <p:nvPr/>
        </p:nvSpPr>
        <p:spPr>
          <a:xfrm>
            <a:off x="548640" y="221284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671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table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16712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or paste from SciSpace.</a:t>
            </a:r>
            <a:endParaRPr lang="en-US" sz="1800" dirty="0"/>
          </a:p>
        </p:txBody>
      </p:sp>
      <p:sp>
        <p:nvSpPr>
          <p:cNvPr id="11" name="num"/>
          <p:cNvSpPr/>
          <p:nvPr/>
        </p:nvSpPr>
        <p:spPr>
          <a:xfrm>
            <a:off x="548640" y="321868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1729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chart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17296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3 to 5 sentences. Small sample. AI-extracted.</a:t>
            </a:r>
            <a:endParaRPr lang="en-US" sz="1800" dirty="0"/>
          </a:p>
        </p:txBody>
      </p:sp>
      <p:sp>
        <p:nvSpPr>
          <p:cNvPr id="15" name="num"/>
          <p:cNvSpPr/>
          <p:nvPr/>
        </p:nvSpPr>
        <p:spPr>
          <a:xfrm>
            <a:off x="548640" y="42245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788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17880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documents. AI answer, and whether it was right.</a:t>
            </a:r>
            <a:endParaRPr lang="en-US" sz="1800" dirty="0"/>
          </a:p>
        </p:txBody>
      </p:sp>
      <p:sp>
        <p:nvSpPr>
          <p:cNvPr id="19" name="num"/>
          <p:cNvSpPr/>
          <p:nvPr/>
        </p:nvSpPr>
        <p:spPr>
          <a:xfrm>
            <a:off x="548640" y="523036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230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1846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518464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words. What you would not trust this for.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still goes wrong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02920" y="1188720"/>
            <a:ext cx="557784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Mistakes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tidy cell can still be the wrong number. The three-file check is the mitigation.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355080" y="1188720"/>
            <a:ext cx="557784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62940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Reruns differ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0116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again and a label may move. Freeze the table you will chart.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02920" y="3657600"/>
            <a:ext cx="5577840" cy="2240280"/>
          </a:xfrm>
          <a:prstGeom prst="roundRect">
            <a:avLst>
              <a:gd name="adj" fmla="val 4082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886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80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prompt, then run it. Do not rebuild the table five times.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6355080" y="3657600"/>
            <a:ext cx="5577840" cy="2240280"/>
          </a:xfrm>
          <a:prstGeom prst="roundRect">
            <a:avLst>
              <a:gd name="adj" fmla="val 4082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629400" y="3886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480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files are public. Your workplace transcripts may not be.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build it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02920" y="1234440"/>
            <a:ext cx="1115568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630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Unzip your collection. Upload all 20 PDFs to one SciSpace folder.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502920" y="2423160"/>
            <a:ext cx="1115568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5176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folder-chat prompt. Count 20 rows.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502920" y="3611880"/>
            <a:ext cx="1115568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3840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8404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table out. Upload the CSV to your paid AI tool.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502920" y="4800600"/>
            <a:ext cx="1115568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1C2822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5029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502920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chart prompt for your option. Then open three PDFs and check.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The Graph Courses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C67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9659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interesting result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cell the AI got wrong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7033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one example to the share-back.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week.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shop3 Ink">
  <a:themeElements>
    <a:clrScheme name="Workshop3 Ink">
      <a:dk1>
        <a:srgbClr val="1C2822"/>
      </a:dk1>
      <a:lt1>
        <a:srgbClr val="FFFFFF"/>
      </a:lt1>
      <a:dk2>
        <a:srgbClr val="3E6B58"/>
      </a:dk2>
      <a:lt2>
        <a:srgbClr val="E7F0EB"/>
      </a:lt2>
      <a:accent1>
        <a:srgbClr val="3E6B58"/>
      </a:accent1>
      <a:accent2>
        <a:srgbClr val="C4622D"/>
      </a:accent2>
      <a:accent3>
        <a:srgbClr val="1C2822"/>
      </a:accent3>
      <a:accent4>
        <a:srgbClr val="8AA898"/>
      </a:accent4>
      <a:accent5>
        <a:srgbClr val="F4E6DA"/>
      </a:accent5>
      <a:accent6>
        <a:srgbClr val="5C675F"/>
      </a:accent6>
      <a:hlink>
        <a:srgbClr val="3E6B58"/>
      </a:hlink>
      <a:folHlink>
        <a:srgbClr val="C4622D"/>
      </a:folHlink>
    </a:clrScheme>
    <a:fontScheme name="Workshop3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3: From a pile of PDFs to a table you can check</dc:title>
  <dc:subject>AI Workshop 3 teaching slides</dc:subject>
  <dc:creator>The Graph Courses</dc:creator>
  <cp:lastModifiedBy>The Graph Courses</cp:lastModifiedBy>
  <cp:revision>1</cp:revision>
  <dcterms:created xsi:type="dcterms:W3CDTF">2026-10-17T21:53:13Z</dcterms:created>
  <dcterms:modified xsi:type="dcterms:W3CDTF">2026-10-17T21:53:13Z</dcterms:modified>
</cp:coreProperties>
</file>